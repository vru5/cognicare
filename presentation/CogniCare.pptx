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1"/>
  </p:notesMasterIdLst>
  <p:sldIdLst>
    <p:sldId id="257" r:id="rId2"/>
    <p:sldId id="259" r:id="rId3"/>
    <p:sldId id="262" r:id="rId4"/>
    <p:sldId id="264" r:id="rId5"/>
    <p:sldId id="263" r:id="rId6"/>
    <p:sldId id="261" r:id="rId7"/>
    <p:sldId id="267" r:id="rId8"/>
    <p:sldId id="265"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102E"/>
    <a:srgbClr val="EE7012"/>
    <a:srgbClr val="6EE7B7"/>
    <a:srgbClr val="0D9488"/>
    <a:srgbClr val="215828"/>
    <a:srgbClr val="72A5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69AD77-92B6-4EF5-A2AB-07A8962CB252}" type="datetimeFigureOut">
              <a:rPr lang="en-IN" smtClean="0"/>
              <a:t>20-05-2026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74DC01-CBB4-421F-95CE-F759DC72ECD8}" type="slidenum">
              <a:rPr lang="en-IN" smtClean="0"/>
              <a:t>‹#›</a:t>
            </a:fld>
            <a:endParaRPr lang="en-IN"/>
          </a:p>
        </p:txBody>
      </p:sp>
    </p:spTree>
    <p:extLst>
      <p:ext uri="{BB962C8B-B14F-4D97-AF65-F5344CB8AC3E}">
        <p14:creationId xmlns:p14="http://schemas.microsoft.com/office/powerpoint/2010/main" val="193214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F74DC01-CBB4-421F-95CE-F759DC72ECD8}" type="slidenum">
              <a:rPr lang="en-IN" smtClean="0"/>
              <a:t>7</a:t>
            </a:fld>
            <a:endParaRPr lang="en-IN"/>
          </a:p>
        </p:txBody>
      </p:sp>
    </p:spTree>
    <p:extLst>
      <p:ext uri="{BB962C8B-B14F-4D97-AF65-F5344CB8AC3E}">
        <p14:creationId xmlns:p14="http://schemas.microsoft.com/office/powerpoint/2010/main" val="4236217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39070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09559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86944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5/20/2026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58840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5/20/2026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89431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5/20/2026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4379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5/20/2026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84160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5/20/2026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81841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
        <p:nvSpPr>
          <p:cNvPr id="5" name="Date Placeholder 4"/>
          <p:cNvSpPr>
            <a:spLocks noGrp="1"/>
          </p:cNvSpPr>
          <p:nvPr>
            <p:ph type="dt" sz="half" idx="10"/>
          </p:nvPr>
        </p:nvSpPr>
        <p:spPr/>
        <p:txBody>
          <a:bodyPr/>
          <a:lstStyle/>
          <a:p>
            <a:fld id="{82E171BA-CC09-47C8-A6DF-F5C5CB59CEEC}" type="datetime1">
              <a:rPr lang="en-US" smtClean="0"/>
              <a:t>5/20/2026</a:t>
            </a:fld>
            <a:endParaRPr lang="en-US"/>
          </a:p>
        </p:txBody>
      </p:sp>
    </p:spTree>
    <p:extLst>
      <p:ext uri="{BB962C8B-B14F-4D97-AF65-F5344CB8AC3E}">
        <p14:creationId xmlns:p14="http://schemas.microsoft.com/office/powerpoint/2010/main" val="2584720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324719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1984480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0650751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2312878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38F49-B3E2-4BF0-BEC7-C30D34ABBB8D}"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9163893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147023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5/20/2026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91680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p>
            <a:fld id="{7DA38F49-B3E2-4BF0-BEC7-C30D34ABBB8D}" type="datetime1">
              <a:rPr lang="en-US" smtClean="0"/>
              <a:t>5/20/2026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1394923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5278">
              <a:schemeClr val="accent2">
                <a:lumMod val="60000"/>
                <a:lumOff val="4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A38F49-B3E2-4BF0-BEC7-C30D34ABBB8D}" type="datetime1">
              <a:rPr lang="en-US" smtClean="0"/>
              <a:t>5/20/2026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3005103356"/>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cogni-care-backend.onrender.com/" TargetMode="External"/><Relationship Id="rId2" Type="http://schemas.openxmlformats.org/officeDocument/2006/relationships/hyperlink" Target="https://cognicare-rosy.vercel.app/" TargetMode="Externa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hyperlink" Target="https://uniofleicester-my.sharepoint.com/my?id=%2Fpersonal%2Fvvh2%5Fstudent%5Fle%5Fac%5Fuk%2FDocuments%2FAttachments%2Fapp%2Ddebug%2Eapk&amp;parent=%2Fpersonal%2Fvvh2%5Fstudent%5Fle%5Fac%5Fuk%2FDocuments%2FAttachments&amp;ga=1" TargetMode="External"/><Relationship Id="rId4" Type="http://schemas.openxmlformats.org/officeDocument/2006/relationships/hyperlink" Target="https://campus.cs.le.ac.uk/gitlab/pgt_project/25_26_spring/vvh2/-/tree/m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EE97135-6CF9-86B3-E9E2-0AE4C76F315A}"/>
              </a:ext>
            </a:extLst>
          </p:cNvPr>
          <p:cNvPicPr>
            <a:picLocks noChangeAspect="1"/>
          </p:cNvPicPr>
          <p:nvPr/>
        </p:nvPicPr>
        <p:blipFill>
          <a:blip r:embed="rId2">
            <a:alphaModFix amt="51000"/>
            <a:duotone>
              <a:schemeClr val="accent1">
                <a:shade val="45000"/>
                <a:satMod val="135000"/>
              </a:schemeClr>
              <a:prstClr val="white"/>
            </a:duotone>
          </a:blip>
          <a:srcRect r="10666" b="1"/>
          <a:stretch>
            <a:fillRect/>
          </a:stretch>
        </p:blipFill>
        <p:spPr>
          <a:xfrm>
            <a:off x="20" y="152"/>
            <a:ext cx="12191980" cy="6857848"/>
          </a:xfrm>
          <a:prstGeom prst="rect">
            <a:avLst/>
          </a:prstGeom>
          <a:ln>
            <a:solidFill>
              <a:schemeClr val="bg2"/>
            </a:solidFill>
          </a:ln>
        </p:spPr>
      </p:pic>
      <p:sp>
        <p:nvSpPr>
          <p:cNvPr id="5" name="TextBox 4">
            <a:extLst>
              <a:ext uri="{FF2B5EF4-FFF2-40B4-BE49-F238E27FC236}">
                <a16:creationId xmlns:a16="http://schemas.microsoft.com/office/drawing/2014/main" id="{FA7091AA-1187-AB8C-AF56-2AC30AC86C8D}"/>
              </a:ext>
            </a:extLst>
          </p:cNvPr>
          <p:cNvSpPr txBox="1"/>
          <p:nvPr/>
        </p:nvSpPr>
        <p:spPr>
          <a:xfrm>
            <a:off x="875071" y="2702605"/>
            <a:ext cx="10146890" cy="1032975"/>
          </a:xfrm>
          <a:prstGeom prst="rect">
            <a:avLst/>
          </a:prstGeom>
          <a:noFill/>
        </p:spPr>
        <p:txBody>
          <a:bodyPr wrap="square">
            <a:spAutoFit/>
          </a:bodyPr>
          <a:lstStyle/>
          <a:p>
            <a:pPr marL="0" marR="0" lvl="0" indent="0" algn="l" defTabSz="914400" rtl="0" eaLnBrk="1" fontAlgn="auto" latinLnBrk="0" hangingPunct="1">
              <a:lnSpc>
                <a:spcPct val="120000"/>
              </a:lnSpc>
              <a:spcBef>
                <a:spcPts val="1000"/>
              </a:spcBef>
              <a:spcAft>
                <a:spcPts val="0"/>
              </a:spcAft>
              <a:buClrTx/>
              <a:buSzPct val="87000"/>
              <a:buFont typeface="Arial" panose="020B0604020202020204" pitchFamily="34" charset="0"/>
              <a:buNone/>
              <a:tabLst/>
              <a:defRPr/>
            </a:pPr>
            <a:r>
              <a:rPr kumimoji="0" lang="en-US" sz="2300" b="1" i="0" u="none" strike="noStrike" kern="1200" cap="all" spc="30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An AI-Driven Clinical Symptom Tracking</a:t>
            </a:r>
          </a:p>
          <a:p>
            <a:pPr marL="0" marR="0" lvl="0" indent="0" algn="l" defTabSz="914400" rtl="0" eaLnBrk="1" fontAlgn="auto" latinLnBrk="0" hangingPunct="1">
              <a:lnSpc>
                <a:spcPct val="120000"/>
              </a:lnSpc>
              <a:spcBef>
                <a:spcPts val="1000"/>
              </a:spcBef>
              <a:spcAft>
                <a:spcPts val="0"/>
              </a:spcAft>
              <a:buClrTx/>
              <a:buSzPct val="87000"/>
              <a:buFont typeface="Arial" panose="020B0604020202020204" pitchFamily="34" charset="0"/>
              <a:buNone/>
              <a:tabLst/>
              <a:defRPr/>
            </a:pPr>
            <a:r>
              <a:rPr kumimoji="0" lang="en-US" sz="2300" b="1" i="0" u="none" strike="noStrike" kern="1200" cap="all" spc="30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Platform for CTE Patients</a:t>
            </a:r>
          </a:p>
        </p:txBody>
      </p:sp>
      <p:sp>
        <p:nvSpPr>
          <p:cNvPr id="9" name="TextBox 8">
            <a:extLst>
              <a:ext uri="{FF2B5EF4-FFF2-40B4-BE49-F238E27FC236}">
                <a16:creationId xmlns:a16="http://schemas.microsoft.com/office/drawing/2014/main" id="{A506F441-9C58-3BFC-B4A6-30D583FEB093}"/>
              </a:ext>
            </a:extLst>
          </p:cNvPr>
          <p:cNvSpPr txBox="1"/>
          <p:nvPr/>
        </p:nvSpPr>
        <p:spPr>
          <a:xfrm>
            <a:off x="781665" y="908880"/>
            <a:ext cx="6105832" cy="1446550"/>
          </a:xfrm>
          <a:prstGeom prst="rect">
            <a:avLst/>
          </a:prstGeom>
          <a:noFill/>
        </p:spPr>
        <p:txBody>
          <a:bodyPr wrap="square">
            <a:spAutoFit/>
          </a:bodyPr>
          <a:lstStyle/>
          <a:p>
            <a:r>
              <a:rPr kumimoji="0" lang="en-IN" sz="8800" b="1" i="1" u="sng" strike="noStrike" kern="1200" cap="none" spc="0" normalizeH="0" baseline="0" noProof="0" dirty="0" err="1">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CogniCare</a:t>
            </a:r>
            <a:endParaRPr lang="en-IN" dirty="0"/>
          </a:p>
        </p:txBody>
      </p:sp>
      <p:sp>
        <p:nvSpPr>
          <p:cNvPr id="11" name="TextBox 10">
            <a:extLst>
              <a:ext uri="{FF2B5EF4-FFF2-40B4-BE49-F238E27FC236}">
                <a16:creationId xmlns:a16="http://schemas.microsoft.com/office/drawing/2014/main" id="{62954D8C-84DB-61D9-2723-CBDDE41772E4}"/>
              </a:ext>
            </a:extLst>
          </p:cNvPr>
          <p:cNvSpPr txBox="1"/>
          <p:nvPr/>
        </p:nvSpPr>
        <p:spPr>
          <a:xfrm>
            <a:off x="781665" y="5587482"/>
            <a:ext cx="5751871" cy="723275"/>
          </a:xfrm>
          <a:prstGeom prst="rect">
            <a:avLst/>
          </a:prstGeom>
          <a:noFill/>
        </p:spPr>
        <p:txBody>
          <a:bodyPr wrap="square">
            <a:spAutoFit/>
          </a:bodyPr>
          <a:lstStyle/>
          <a:p>
            <a:pPr>
              <a:spcAft>
                <a:spcPts val="600"/>
              </a:spcAft>
            </a:pPr>
            <a:r>
              <a:rPr lang="en-US" b="1" dirty="0">
                <a:solidFill>
                  <a:prstClr val="black"/>
                </a:solidFill>
                <a:latin typeface="Times New Roman" panose="02020603050405020304" pitchFamily="18" charset="0"/>
                <a:ea typeface="Calibri" pitchFamily="34" charset="-122"/>
                <a:cs typeface="Times New Roman" panose="02020603050405020304" pitchFamily="18" charset="0"/>
              </a:rPr>
              <a:t>Vrushali Hippargi</a:t>
            </a:r>
            <a:endParaRPr lang="en-US" dirty="0">
              <a:solidFill>
                <a:prstClr val="black"/>
              </a:solidFill>
              <a:latin typeface="Times New Roman" panose="02020603050405020304" pitchFamily="18" charset="0"/>
              <a:cs typeface="Times New Roman" panose="02020603050405020304" pitchFamily="18" charset="0"/>
            </a:endParaRPr>
          </a:p>
          <a:p>
            <a:pPr>
              <a:spcAft>
                <a:spcPts val="600"/>
              </a:spcAft>
            </a:pPr>
            <a:r>
              <a:rPr lang="en-US" dirty="0">
                <a:solidFill>
                  <a:prstClr val="black"/>
                </a:solidFill>
                <a:latin typeface="Times New Roman" panose="02020603050405020304" pitchFamily="18" charset="0"/>
                <a:ea typeface="Calibri" pitchFamily="34" charset="-122"/>
                <a:cs typeface="Times New Roman" panose="02020603050405020304" pitchFamily="18" charset="0"/>
              </a:rPr>
              <a:t>CO7201 Individual Project  ·  University of Leicester</a:t>
            </a:r>
            <a:endParaRPr lang="en-IN" dirty="0">
              <a:solidFill>
                <a:prstClr val="black"/>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73AFFB3-803A-DCFE-B760-0BC963DC7F31}"/>
              </a:ext>
            </a:extLst>
          </p:cNvPr>
          <p:cNvPicPr>
            <a:picLocks noChangeAspect="1"/>
          </p:cNvPicPr>
          <p:nvPr/>
        </p:nvPicPr>
        <p:blipFill>
          <a:blip r:embed="rId3"/>
          <a:stretch>
            <a:fillRect/>
          </a:stretch>
        </p:blipFill>
        <p:spPr>
          <a:xfrm>
            <a:off x="10606903" y="0"/>
            <a:ext cx="1585097" cy="579170"/>
          </a:xfrm>
          <a:prstGeom prst="rect">
            <a:avLst/>
          </a:prstGeom>
        </p:spPr>
      </p:pic>
    </p:spTree>
    <p:extLst>
      <p:ext uri="{BB962C8B-B14F-4D97-AF65-F5344CB8AC3E}">
        <p14:creationId xmlns:p14="http://schemas.microsoft.com/office/powerpoint/2010/main" val="18634664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783A-9B09-7B65-A29E-EA2B0AECCB8F}"/>
              </a:ext>
            </a:extLst>
          </p:cNvPr>
          <p:cNvSpPr>
            <a:spLocks noGrp="1"/>
          </p:cNvSpPr>
          <p:nvPr>
            <p:ph type="title"/>
          </p:nvPr>
        </p:nvSpPr>
        <p:spPr>
          <a:xfrm>
            <a:off x="677334" y="339213"/>
            <a:ext cx="8596668" cy="737419"/>
          </a:xfrm>
        </p:spPr>
        <p:txBody>
          <a:bodyPr>
            <a:normAutofit fontScale="90000"/>
          </a:bodyPr>
          <a:lstStyle/>
          <a:p>
            <a:r>
              <a:rPr lang="en-US" sz="4400" b="1" dirty="0">
                <a:solidFill>
                  <a:schemeClr val="accent2">
                    <a:lumMod val="50000"/>
                  </a:schemeClr>
                </a:solidFill>
                <a:latin typeface="Georgia" pitchFamily="34" charset="0"/>
                <a:ea typeface="Georgia" pitchFamily="34" charset="-122"/>
                <a:cs typeface="Georgia" pitchFamily="34" charset="-120"/>
              </a:rPr>
              <a:t>The Problem</a:t>
            </a:r>
            <a:endParaRPr lang="en-IN" dirty="0">
              <a:solidFill>
                <a:schemeClr val="accent2">
                  <a:lumMod val="50000"/>
                </a:schemeClr>
              </a:solidFill>
            </a:endParaRPr>
          </a:p>
        </p:txBody>
      </p:sp>
      <p:sp>
        <p:nvSpPr>
          <p:cNvPr id="10" name="Shape 4">
            <a:extLst>
              <a:ext uri="{FF2B5EF4-FFF2-40B4-BE49-F238E27FC236}">
                <a16:creationId xmlns:a16="http://schemas.microsoft.com/office/drawing/2014/main" id="{D18B2C3D-1100-3338-E087-9665BDE11062}"/>
              </a:ext>
            </a:extLst>
          </p:cNvPr>
          <p:cNvSpPr/>
          <p:nvPr/>
        </p:nvSpPr>
        <p:spPr>
          <a:xfrm>
            <a:off x="677334" y="1233949"/>
            <a:ext cx="3248397" cy="4699819"/>
          </a:xfrm>
          <a:prstGeom prst="rect">
            <a:avLst/>
          </a:prstGeom>
          <a:solidFill>
            <a:schemeClr val="bg1"/>
          </a:solidFill>
          <a:ln w="6350">
            <a:solidFill>
              <a:schemeClr val="accent2">
                <a:lumMod val="75000"/>
              </a:schemeClr>
            </a:solidFill>
            <a:prstDash val="solid"/>
          </a:ln>
          <a:effectLst>
            <a:outerShdw blurRad="101600" dist="38100" dir="8100000" algn="bl" rotWithShape="0">
              <a:srgbClr val="064E3B">
                <a:alpha val="1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en-US" sz="2000" b="1" i="1" strike="noStrike" kern="1200" cap="none" spc="0" normalizeH="0" baseline="0" noProof="0" dirty="0">
                <a:ln>
                  <a:noFill/>
                </a:ln>
                <a:solidFill>
                  <a:srgbClr val="1E293B"/>
                </a:solidFill>
                <a:effectLst/>
                <a:uLnTx/>
                <a:uFillTx/>
                <a:latin typeface="Times New Roman" panose="02020603050405020304" pitchFamily="18" charset="0"/>
                <a:ea typeface="Calibri" pitchFamily="34" charset="-122"/>
                <a:cs typeface="Times New Roman" panose="02020603050405020304" pitchFamily="18" charset="0"/>
              </a:rPr>
              <a:t>Progressive Disease</a:t>
            </a:r>
            <a:endParaRPr kumimoji="0" lang="en-US" sz="1350" b="1" i="1" strike="noStrike" kern="1200" cap="none" spc="0" normalizeH="0" baseline="0" noProof="0" dirty="0">
              <a:ln>
                <a:noFill/>
              </a:ln>
              <a:solidFill>
                <a:srgbClr val="1E293B"/>
              </a:solidFill>
              <a:effectLst/>
              <a:uLnTx/>
              <a:uFillTx/>
              <a:latin typeface="Times New Roman" panose="02020603050405020304" pitchFamily="18" charset="0"/>
              <a:ea typeface="Calibri"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indent="-171450" defTabSz="914400">
              <a:buFont typeface="Arial" panose="020B0604020202020204" pitchFamily="34" charset="0"/>
              <a:buChar char="•"/>
              <a:defRPr/>
            </a:pPr>
            <a:r>
              <a:rPr lang="en-US" sz="1200" b="1" dirty="0">
                <a:solidFill>
                  <a:srgbClr val="475569"/>
                </a:solidFill>
                <a:latin typeface="Times New Roman" panose="02020603050405020304" pitchFamily="18" charset="0"/>
                <a:ea typeface="Calibri" pitchFamily="34" charset="-122"/>
                <a:cs typeface="Times New Roman" panose="02020603050405020304" pitchFamily="18" charset="0"/>
              </a:rPr>
              <a:t>Chronic Traumatic Encephalopathy</a:t>
            </a: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 is a progressive degenerative brain disease found in people with a history of repetitive head impacts.</a:t>
            </a:r>
          </a:p>
          <a:p>
            <a:pPr marL="171450" indent="-171450" defTabSz="914400">
              <a:buFont typeface="Arial" panose="020B0604020202020204" pitchFamily="34" charset="0"/>
              <a:buChar char="•"/>
              <a:defRPr/>
            </a:pPr>
            <a:endParaRPr lang="en-US" sz="1200" dirty="0">
              <a:solidFill>
                <a:srgbClr val="475569"/>
              </a:solidFill>
              <a:latin typeface="Times New Roman" panose="02020603050405020304" pitchFamily="18" charset="0"/>
              <a:ea typeface="Calibri" pitchFamily="34" charset="-122"/>
              <a:cs typeface="Times New Roman" panose="02020603050405020304" pitchFamily="18" charset="0"/>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This includes symptomatic concussions as well as "sub-concussive" hits, the kind of smaller bumps to the head that don't cause immediate symptoms but add up over years.</a:t>
            </a:r>
          </a:p>
          <a:p>
            <a:pPr marL="171450" indent="-171450" defTabSz="914400">
              <a:buFont typeface="Arial" panose="020B0604020202020204" pitchFamily="34" charset="0"/>
              <a:buChar char="•"/>
              <a:defRPr/>
            </a:pPr>
            <a:endParaRPr lang="en-US" sz="1200" dirty="0">
              <a:solidFill>
                <a:srgbClr val="475569"/>
              </a:solidFill>
              <a:latin typeface="Times New Roman" panose="02020603050405020304" pitchFamily="18" charset="0"/>
              <a:ea typeface="Calibri" pitchFamily="34" charset="-122"/>
              <a:cs typeface="Times New Roman" panose="02020603050405020304" pitchFamily="18" charset="0"/>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While it is most famously associated with professional football players and boxers, it can affect anyone with a history of repetitive head trauma, such as military veterans or victims of domestic abuse.</a:t>
            </a:r>
          </a:p>
          <a:p>
            <a:pPr marL="171450" indent="-171450" defTabSz="914400">
              <a:buFont typeface="Arial" panose="020B0604020202020204" pitchFamily="34" charset="0"/>
              <a:buChar char="•"/>
              <a:defRPr/>
            </a:pPr>
            <a:endParaRPr lang="en-US" sz="1200" dirty="0">
              <a:solidFill>
                <a:srgbClr val="475569"/>
              </a:solidFill>
              <a:latin typeface="Times New Roman" panose="02020603050405020304" pitchFamily="18" charset="0"/>
              <a:ea typeface="Calibri" pitchFamily="34" charset="-122"/>
              <a:cs typeface="Times New Roman" panose="02020603050405020304" pitchFamily="18" charset="0"/>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CTE is a tauopathy requiring monitoring over years, not the 72-hour window that Concussion Coach and existing tools were built for.</a:t>
            </a:r>
            <a:endParaRPr lang="en-US" sz="1200" dirty="0">
              <a:latin typeface="Times New Roman" panose="02020603050405020304" pitchFamily="18" charset="0"/>
              <a:cs typeface="Times New Roman" panose="02020603050405020304" pitchFamily="18" charset="0"/>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4">
            <a:extLst>
              <a:ext uri="{FF2B5EF4-FFF2-40B4-BE49-F238E27FC236}">
                <a16:creationId xmlns:a16="http://schemas.microsoft.com/office/drawing/2014/main" id="{13B2CECE-91A9-5C13-9A48-D1C5726FA994}"/>
              </a:ext>
            </a:extLst>
          </p:cNvPr>
          <p:cNvSpPr/>
          <p:nvPr/>
        </p:nvSpPr>
        <p:spPr>
          <a:xfrm>
            <a:off x="4242226" y="1233948"/>
            <a:ext cx="3248397" cy="4699819"/>
          </a:xfrm>
          <a:prstGeom prst="rect">
            <a:avLst/>
          </a:prstGeom>
          <a:solidFill>
            <a:schemeClr val="bg1"/>
          </a:solidFill>
          <a:ln w="6350">
            <a:solidFill>
              <a:schemeClr val="accent2">
                <a:lumMod val="75000"/>
              </a:schemeClr>
            </a:solidFill>
            <a:prstDash val="solid"/>
          </a:ln>
          <a:effectLst>
            <a:outerShdw blurRad="101600" dist="38100" dir="8100000" algn="bl" rotWithShape="0">
              <a:srgbClr val="064E3B">
                <a:alpha val="15000"/>
              </a:srgbClr>
            </a:outerShdw>
          </a:effectLst>
        </p:spPr>
        <p:txBody>
          <a:bodyPr/>
          <a:lstStyle/>
          <a:p>
            <a:pPr defTabSz="914400">
              <a:defRPr/>
            </a:pPr>
            <a:r>
              <a:rPr kumimoji="0" lang="en-US" sz="40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en-US" sz="2000" b="1" i="1" strike="noStrike" kern="1200" cap="none" spc="0" normalizeH="0" baseline="0" noProof="0" dirty="0">
                <a:ln>
                  <a:noFill/>
                </a:ln>
                <a:solidFill>
                  <a:srgbClr val="1E293B"/>
                </a:solidFill>
                <a:effectLst/>
                <a:uLnTx/>
                <a:uFillTx/>
                <a:latin typeface="Times New Roman" panose="02020603050405020304" pitchFamily="18" charset="0"/>
                <a:ea typeface="Calibri" pitchFamily="34" charset="-122"/>
                <a:cs typeface="Times New Roman" panose="02020603050405020304" pitchFamily="18" charset="0"/>
              </a:rPr>
              <a:t>The Diagnostic Void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Doctors see patients for 15 minutes every few months. The thousands of hours in between  the most clinically rich period  produce no data.</a:t>
            </a:r>
          </a:p>
          <a:p>
            <a:pPr marL="171450" indent="-171450" defTabSz="914400">
              <a:buFont typeface="Arial" panose="020B0604020202020204" pitchFamily="34" charset="0"/>
              <a:buChar char="•"/>
              <a:defRPr/>
            </a:pPr>
            <a:endParaRPr lang="en-US" sz="1200" dirty="0">
              <a:solidFill>
                <a:srgbClr val="475569"/>
              </a:solidFill>
              <a:latin typeface="Times New Roman" panose="02020603050405020304" pitchFamily="18" charset="0"/>
              <a:ea typeface="Calibri" pitchFamily="34" charset="-122"/>
              <a:cs typeface="Times New Roman" panose="02020603050405020304" pitchFamily="18" charset="0"/>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Families often have "he-said-she-said" arguments about a parent's health. "Mom seems fine to me!" says the son from another city, while the daughter living nearby is exhausted. </a:t>
            </a:r>
          </a:p>
          <a:p>
            <a:pPr marL="171450" indent="-171450" defTabSz="914400">
              <a:buFont typeface="Arial" panose="020B0604020202020204" pitchFamily="34" charset="0"/>
              <a:buChar char="•"/>
              <a:defRPr/>
            </a:pPr>
            <a:endParaRPr lang="en-US" sz="1200" dirty="0">
              <a:solidFill>
                <a:srgbClr val="475569"/>
              </a:solidFill>
              <a:latin typeface="Times New Roman" panose="02020603050405020304" pitchFamily="18" charset="0"/>
              <a:ea typeface="Calibri" pitchFamily="34" charset="-122"/>
              <a:cs typeface="Times New Roman" panose="02020603050405020304" pitchFamily="18" charset="0"/>
            </a:endParaRPr>
          </a:p>
          <a:p>
            <a:pPr marL="171450" indent="-171450" defTabSz="914400">
              <a:buFont typeface="Arial" panose="020B0604020202020204" pitchFamily="34" charset="0"/>
              <a:buChar char="•"/>
              <a:defRPr/>
            </a:pPr>
            <a:endParaRPr lang="en-US" sz="1200" dirty="0">
              <a:solidFill>
                <a:srgbClr val="475569"/>
              </a:solidFill>
              <a:latin typeface="Times New Roman" panose="02020603050405020304" pitchFamily="18" charset="0"/>
              <a:ea typeface="Calibri" pitchFamily="34" charset="-122"/>
              <a:cs typeface="Times New Roman" panose="02020603050405020304" pitchFamily="18" charset="0"/>
            </a:endParaRPr>
          </a:p>
        </p:txBody>
      </p:sp>
      <p:sp>
        <p:nvSpPr>
          <p:cNvPr id="17" name="Shape 4">
            <a:extLst>
              <a:ext uri="{FF2B5EF4-FFF2-40B4-BE49-F238E27FC236}">
                <a16:creationId xmlns:a16="http://schemas.microsoft.com/office/drawing/2014/main" id="{AA722827-D293-7C1C-1293-67434288B2B6}"/>
              </a:ext>
            </a:extLst>
          </p:cNvPr>
          <p:cNvSpPr/>
          <p:nvPr/>
        </p:nvSpPr>
        <p:spPr>
          <a:xfrm>
            <a:off x="7807119" y="1233949"/>
            <a:ext cx="3248397" cy="4699819"/>
          </a:xfrm>
          <a:prstGeom prst="rect">
            <a:avLst/>
          </a:prstGeom>
          <a:solidFill>
            <a:schemeClr val="bg1"/>
          </a:solidFill>
          <a:ln w="6350">
            <a:solidFill>
              <a:schemeClr val="accent2">
                <a:lumMod val="75000"/>
              </a:schemeClr>
            </a:solidFill>
            <a:prstDash val="solid"/>
          </a:ln>
          <a:effectLst>
            <a:outerShdw blurRad="101600" dist="38100" dir="8100000" algn="bl" rotWithShape="0">
              <a:srgbClr val="064E3B">
                <a:alpha val="15000"/>
              </a:srgbClr>
            </a:outerShdw>
          </a:effectLst>
        </p:spPr>
        <p:txBody>
          <a:bodyPr/>
          <a:lstStyle/>
          <a:p>
            <a:pPr defTabSz="914400">
              <a:defRPr/>
            </a:pPr>
            <a:r>
              <a:rPr kumimoji="0" lang="en-US" sz="40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en-US" sz="2000" b="1" i="1" strike="noStrike" kern="1200" cap="none" spc="0" normalizeH="0" baseline="0" noProof="0" dirty="0">
                <a:ln>
                  <a:noFill/>
                </a:ln>
                <a:solidFill>
                  <a:srgbClr val="1E293B"/>
                </a:solidFill>
                <a:effectLst/>
                <a:uLnTx/>
                <a:uFillTx/>
                <a:latin typeface="Times New Roman" panose="02020603050405020304" pitchFamily="18" charset="0"/>
                <a:ea typeface="Calibri" pitchFamily="34" charset="-122"/>
                <a:cs typeface="Times New Roman" panose="02020603050405020304" pitchFamily="18" charset="0"/>
              </a:rPr>
              <a:t>Recall Bias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In a brain with CTE, a protein called tau forms clumps that slowly spread throughout the brain tissue, killing brain cells. This is similar to what happens in Alzheimer’s, but the pattern of where the tau builds up is unique to CTE.</a:t>
            </a:r>
          </a:p>
          <a:p>
            <a:pPr marL="171450" indent="-171450" defTabSz="914400">
              <a:buFont typeface="Arial" panose="020B0604020202020204" pitchFamily="34" charset="0"/>
              <a:buChar char="•"/>
              <a:defRPr/>
            </a:pPr>
            <a:endParaRPr lang="en-US" sz="1200" dirty="0">
              <a:solidFill>
                <a:srgbClr val="475569"/>
              </a:solidFill>
              <a:latin typeface="Times New Roman" panose="02020603050405020304" pitchFamily="18" charset="0"/>
              <a:ea typeface="Calibri" pitchFamily="34" charset="-122"/>
              <a:cs typeface="Times New Roman" panose="02020603050405020304" pitchFamily="18" charset="0"/>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The "daily life" of someone with CTE changes as the disease progresses through different stages. It doesn't just affect memory; it fundamentally alters </a:t>
            </a:r>
            <a:r>
              <a:rPr lang="en-US" sz="1200" b="1" dirty="0">
                <a:solidFill>
                  <a:srgbClr val="475569"/>
                </a:solidFill>
                <a:latin typeface="Times New Roman" panose="02020603050405020304" pitchFamily="18" charset="0"/>
                <a:ea typeface="Calibri" pitchFamily="34" charset="-122"/>
                <a:cs typeface="Times New Roman" panose="02020603050405020304" pitchFamily="18" charset="0"/>
              </a:rPr>
              <a:t>who the person is.</a:t>
            </a:r>
          </a:p>
          <a:p>
            <a:pPr marL="171450" indent="-171450" defTabSz="914400">
              <a:buFont typeface="Arial" panose="020B0604020202020204" pitchFamily="34" charset="0"/>
              <a:buChar char="•"/>
              <a:defRPr/>
            </a:pPr>
            <a:endParaRPr lang="en-US" sz="1200" b="1" dirty="0">
              <a:solidFill>
                <a:srgbClr val="475569"/>
              </a:solidFill>
              <a:latin typeface="Times New Roman" panose="02020603050405020304" pitchFamily="18" charset="0"/>
              <a:ea typeface="Calibri" pitchFamily="34" charset="-122"/>
              <a:cs typeface="Times New Roman" panose="02020603050405020304" pitchFamily="18" charset="0"/>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CTE patients suffer memory impairment, the very symptom being tracked. Retrospective self-report is clinically unreliable for this population.</a:t>
            </a:r>
          </a:p>
          <a:p>
            <a:pPr marL="171450" indent="-171450" defTabSz="914400">
              <a:buFont typeface="Arial" panose="020B0604020202020204" pitchFamily="34" charset="0"/>
              <a:buChar char="•"/>
              <a:defRPr/>
            </a:pPr>
            <a:endParaRPr lang="en-US" sz="1200" dirty="0">
              <a:latin typeface="Times New Roman" panose="02020603050405020304" pitchFamily="18" charset="0"/>
              <a:cs typeface="Times New Roman" panose="02020603050405020304" pitchFamily="18" charset="0"/>
            </a:endParaRPr>
          </a:p>
          <a:p>
            <a:pPr marL="171450" indent="-171450" defTabSz="914400">
              <a:buFont typeface="Arial" panose="020B0604020202020204" pitchFamily="34" charset="0"/>
              <a:buChar char="•"/>
              <a:defRPr/>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NOTE: Currently, CTE can only be definitively diagnosed after death through an autopsy of the brain, though researchers are working on ways to detect it in living patients.</a:t>
            </a:r>
          </a:p>
          <a:p>
            <a:pPr marL="171450" indent="-171450" defTabSz="914400">
              <a:buFont typeface="Arial" panose="020B0604020202020204" pitchFamily="34" charset="0"/>
              <a:buChar char="•"/>
              <a:defRPr/>
            </a:pPr>
            <a:endParaRPr lang="en-US" sz="1200" dirty="0">
              <a:solidFill>
                <a:srgbClr val="475569"/>
              </a:solidFill>
              <a:latin typeface="Times New Roman" panose="02020603050405020304" pitchFamily="18" charset="0"/>
              <a:ea typeface="Calibri" pitchFamily="34" charset="-122"/>
              <a:cs typeface="Times New Roman" panose="02020603050405020304" pitchFamily="18" charset="0"/>
            </a:endParaRPr>
          </a:p>
        </p:txBody>
      </p:sp>
      <p:sp>
        <p:nvSpPr>
          <p:cNvPr id="19" name="Text 20">
            <a:extLst>
              <a:ext uri="{FF2B5EF4-FFF2-40B4-BE49-F238E27FC236}">
                <a16:creationId xmlns:a16="http://schemas.microsoft.com/office/drawing/2014/main" id="{7E71350B-AE9F-E7CE-7BDA-1F2B2798EDAD}"/>
              </a:ext>
            </a:extLst>
          </p:cNvPr>
          <p:cNvSpPr txBox="1">
            <a:spLocks/>
          </p:cNvSpPr>
          <p:nvPr/>
        </p:nvSpPr>
        <p:spPr>
          <a:xfrm>
            <a:off x="1228470" y="6091083"/>
            <a:ext cx="8596312" cy="514350"/>
          </a:xfrm>
          <a:prstGeom prst="rect">
            <a:avLst/>
          </a:prstGeom>
          <a:solidFill>
            <a:schemeClr val="bg1"/>
          </a:solidFill>
          <a:ln>
            <a:solidFill>
              <a:schemeClr val="accent2">
                <a:lumMod val="75000"/>
              </a:schemeClr>
            </a:solidFill>
          </a:ln>
        </p:spPr>
        <p:txBody>
          <a:bodyPr vert="horz" wrap="square" lIns="0" tIns="0" rIns="0" bIns="0" rtlCol="0" anchor="ctr">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400" b="0" kern="1200">
                <a:solidFill>
                  <a:schemeClr val="accent1"/>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9pPr>
          </a:lstStyle>
          <a:p>
            <a:pPr algn="ctr"/>
            <a:r>
              <a:rPr lang="en-US" sz="1400" b="1" dirty="0" err="1">
                <a:solidFill>
                  <a:schemeClr val="accent2">
                    <a:lumMod val="50000"/>
                  </a:schemeClr>
                </a:solidFill>
                <a:latin typeface="Times New Roman" panose="02020603050405020304" pitchFamily="18" charset="0"/>
                <a:cs typeface="Times New Roman" panose="02020603050405020304" pitchFamily="18" charset="0"/>
              </a:rPr>
              <a:t>CogniCare</a:t>
            </a:r>
            <a:r>
              <a:rPr lang="en-US" sz="1400" dirty="0">
                <a:solidFill>
                  <a:schemeClr val="accent2">
                    <a:lumMod val="50000"/>
                  </a:schemeClr>
                </a:solidFill>
                <a:latin typeface="Times New Roman" panose="02020603050405020304" pitchFamily="18" charset="0"/>
                <a:cs typeface="Times New Roman" panose="02020603050405020304" pitchFamily="18" charset="0"/>
              </a:rPr>
              <a:t> bridges this gap: real-time AI symptom capture, longitudinal tracking, and patient-led care coordination.</a:t>
            </a:r>
          </a:p>
        </p:txBody>
      </p:sp>
      <p:pic>
        <p:nvPicPr>
          <p:cNvPr id="21" name="Picture 20">
            <a:extLst>
              <a:ext uri="{FF2B5EF4-FFF2-40B4-BE49-F238E27FC236}">
                <a16:creationId xmlns:a16="http://schemas.microsoft.com/office/drawing/2014/main" id="{D9A0836A-CB6F-086C-C260-45ACF9E45379}"/>
              </a:ext>
            </a:extLst>
          </p:cNvPr>
          <p:cNvPicPr>
            <a:picLocks noChangeAspect="1"/>
          </p:cNvPicPr>
          <p:nvPr/>
        </p:nvPicPr>
        <p:blipFill>
          <a:blip r:embed="rId2"/>
          <a:stretch>
            <a:fillRect/>
          </a:stretch>
        </p:blipFill>
        <p:spPr>
          <a:xfrm>
            <a:off x="10606903" y="-12290"/>
            <a:ext cx="1585097" cy="579170"/>
          </a:xfrm>
          <a:prstGeom prst="rect">
            <a:avLst/>
          </a:prstGeom>
        </p:spPr>
      </p:pic>
    </p:spTree>
    <p:extLst>
      <p:ext uri="{BB962C8B-B14F-4D97-AF65-F5344CB8AC3E}">
        <p14:creationId xmlns:p14="http://schemas.microsoft.com/office/powerpoint/2010/main" val="11683588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17"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5278">
              <a:schemeClr val="accent2">
                <a:lumMod val="60000"/>
                <a:lumOff val="4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8B4FDBE-64AA-9E23-6BBB-0F12B7C03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2FEC0-19E4-2E48-4093-20649A531480}"/>
              </a:ext>
            </a:extLst>
          </p:cNvPr>
          <p:cNvSpPr>
            <a:spLocks noGrp="1"/>
          </p:cNvSpPr>
          <p:nvPr>
            <p:ph type="title"/>
          </p:nvPr>
        </p:nvSpPr>
        <p:spPr>
          <a:xfrm>
            <a:off x="677334" y="339213"/>
            <a:ext cx="8596668" cy="737419"/>
          </a:xfrm>
        </p:spPr>
        <p:txBody>
          <a:bodyPr>
            <a:normAutofit fontScale="90000"/>
          </a:bodyPr>
          <a:lstStyle/>
          <a:p>
            <a:r>
              <a:rPr lang="en-US" sz="4400" b="1" dirty="0">
                <a:solidFill>
                  <a:schemeClr val="accent2">
                    <a:lumMod val="50000"/>
                  </a:schemeClr>
                </a:solidFill>
                <a:latin typeface="Times New Roman" panose="02020603050405020304" pitchFamily="18" charset="0"/>
                <a:ea typeface="Georgia" pitchFamily="34" charset="-122"/>
                <a:cs typeface="Times New Roman" panose="02020603050405020304" pitchFamily="18" charset="0"/>
              </a:rPr>
              <a:t>System Architecture</a:t>
            </a:r>
            <a:endParaRPr lang="en-IN"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3" name="Shape 4">
            <a:extLst>
              <a:ext uri="{FF2B5EF4-FFF2-40B4-BE49-F238E27FC236}">
                <a16:creationId xmlns:a16="http://schemas.microsoft.com/office/drawing/2014/main" id="{BA055BD1-996F-3B33-F6DD-50F6BE7F0E32}"/>
              </a:ext>
            </a:extLst>
          </p:cNvPr>
          <p:cNvSpPr/>
          <p:nvPr/>
        </p:nvSpPr>
        <p:spPr>
          <a:xfrm>
            <a:off x="373624" y="1297857"/>
            <a:ext cx="11372756" cy="1002891"/>
          </a:xfrm>
          <a:prstGeom prst="rect">
            <a:avLst/>
          </a:prstGeom>
          <a:solidFill>
            <a:schemeClr val="bg1">
              <a:lumMod val="95000"/>
            </a:schemeClr>
          </a:solidFill>
          <a:ln w="12700">
            <a:solidFill>
              <a:schemeClr val="accent1">
                <a:lumMod val="75000"/>
              </a:schemeClr>
            </a:solidFill>
            <a:prstDash val="solid"/>
          </a:ln>
          <a:effectLst>
            <a:outerShdw blurRad="101600" dist="38100" dir="8100000" algn="bl" rotWithShape="0">
              <a:srgbClr val="064E3B">
                <a:alpha val="15000"/>
              </a:srgbClr>
            </a:outerShdw>
          </a:effectLst>
        </p:spPr>
        <p:txBody>
          <a:bodyPr/>
          <a:lstStyle/>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Frontend  (Next.js + Capacitor)</a:t>
            </a:r>
          </a:p>
          <a:p>
            <a:endParaRPr lang="en-US" b="1" dirty="0">
              <a:solidFill>
                <a:srgbClr val="1E293B"/>
              </a:solidFill>
              <a:latin typeface="Calibri" pitchFamily="34" charset="0"/>
              <a:ea typeface="Calibri" pitchFamily="34" charset="-122"/>
              <a:cs typeface="Calibri" pitchFamily="34" charset="-120"/>
            </a:endParaRPr>
          </a:p>
          <a:p>
            <a:r>
              <a:rPr lang="en-US" b="1" dirty="0">
                <a:solidFill>
                  <a:srgbClr val="1E293B"/>
                </a:solidFill>
                <a:latin typeface="Calibri" pitchFamily="34" charset="0"/>
                <a:ea typeface="Calibri" pitchFamily="34" charset="-122"/>
                <a:cs typeface="Calibri" pitchFamily="34" charset="-120"/>
              </a:rPr>
              <a:t> </a:t>
            </a:r>
            <a:r>
              <a:rPr lang="en-US" dirty="0">
                <a:solidFill>
                  <a:srgbClr val="475569"/>
                </a:solidFill>
                <a:latin typeface="Times New Roman" panose="02020603050405020304" pitchFamily="18" charset="0"/>
                <a:ea typeface="Calibri" pitchFamily="34" charset="-122"/>
                <a:cs typeface="Times New Roman" panose="02020603050405020304" pitchFamily="18" charset="0"/>
              </a:rPr>
              <a:t>Web · Android · iOS - single codebase · Tailwind CSS · </a:t>
            </a:r>
            <a:r>
              <a:rPr lang="en-US" dirty="0" err="1">
                <a:solidFill>
                  <a:srgbClr val="475569"/>
                </a:solidFill>
                <a:latin typeface="Times New Roman" panose="02020603050405020304" pitchFamily="18" charset="0"/>
                <a:ea typeface="Calibri" pitchFamily="34" charset="-122"/>
                <a:cs typeface="Times New Roman" panose="02020603050405020304" pitchFamily="18" charset="0"/>
              </a:rPr>
              <a:t>ShadcnUI</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Shape 5">
            <a:extLst>
              <a:ext uri="{FF2B5EF4-FFF2-40B4-BE49-F238E27FC236}">
                <a16:creationId xmlns:a16="http://schemas.microsoft.com/office/drawing/2014/main" id="{C0DD1040-EDB4-AEF3-8974-464164B66646}"/>
              </a:ext>
            </a:extLst>
          </p:cNvPr>
          <p:cNvSpPr/>
          <p:nvPr/>
        </p:nvSpPr>
        <p:spPr>
          <a:xfrm>
            <a:off x="373626" y="1297858"/>
            <a:ext cx="95157" cy="1002890"/>
          </a:xfrm>
          <a:prstGeom prst="rect">
            <a:avLst/>
          </a:prstGeom>
          <a:solidFill>
            <a:schemeClr val="accent1">
              <a:lumMod val="50000"/>
            </a:schemeClr>
          </a:solidFill>
          <a:ln w="12700">
            <a:solidFill>
              <a:srgbClr val="0D9488"/>
            </a:solidFill>
            <a:prstDash val="solid"/>
          </a:ln>
        </p:spPr>
        <p:txBody>
          <a:bodyPr/>
          <a:lstStyle/>
          <a:p>
            <a:endParaRPr lang="en-IN" dirty="0"/>
          </a:p>
        </p:txBody>
      </p:sp>
      <p:sp>
        <p:nvSpPr>
          <p:cNvPr id="7" name="Shape 4">
            <a:extLst>
              <a:ext uri="{FF2B5EF4-FFF2-40B4-BE49-F238E27FC236}">
                <a16:creationId xmlns:a16="http://schemas.microsoft.com/office/drawing/2014/main" id="{13062738-664F-7599-ACF5-0763101F90A8}"/>
              </a:ext>
            </a:extLst>
          </p:cNvPr>
          <p:cNvSpPr/>
          <p:nvPr/>
        </p:nvSpPr>
        <p:spPr>
          <a:xfrm>
            <a:off x="398039" y="2517989"/>
            <a:ext cx="11372756" cy="1002891"/>
          </a:xfrm>
          <a:prstGeom prst="rect">
            <a:avLst/>
          </a:prstGeom>
          <a:solidFill>
            <a:schemeClr val="bg1">
              <a:lumMod val="95000"/>
            </a:schemeClr>
          </a:solidFill>
          <a:ln w="12700">
            <a:solidFill>
              <a:schemeClr val="accent1">
                <a:lumMod val="75000"/>
              </a:schemeClr>
            </a:solidFill>
            <a:prstDash val="solid"/>
          </a:ln>
          <a:effectLst>
            <a:outerShdw blurRad="101600" dist="38100" dir="8100000" algn="bl" rotWithShape="0">
              <a:srgbClr val="064E3B">
                <a:alpha val="15000"/>
              </a:srgbClr>
            </a:outerShdw>
          </a:effectLst>
        </p:spPr>
        <p:txBody>
          <a:bodyPr/>
          <a:lstStyle/>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BFF  (Node.js / Express)</a:t>
            </a:r>
          </a:p>
          <a:p>
            <a:endParaRPr lang="en-US" b="1" dirty="0">
              <a:solidFill>
                <a:srgbClr val="1E293B"/>
              </a:solidFill>
              <a:latin typeface="Calibri" pitchFamily="34" charset="0"/>
              <a:ea typeface="Calibri" pitchFamily="34" charset="-122"/>
              <a:cs typeface="Calibri" pitchFamily="34" charset="-120"/>
            </a:endParaRPr>
          </a:p>
          <a:p>
            <a:r>
              <a:rPr lang="en-US" b="1" dirty="0">
                <a:solidFill>
                  <a:srgbClr val="1E293B"/>
                </a:solidFill>
                <a:latin typeface="Calibri" pitchFamily="34" charset="0"/>
                <a:ea typeface="Calibri" pitchFamily="34" charset="-122"/>
                <a:cs typeface="Calibri" pitchFamily="34" charset="-120"/>
              </a:rPr>
              <a:t> </a:t>
            </a:r>
            <a:r>
              <a:rPr lang="en-US" dirty="0">
                <a:solidFill>
                  <a:srgbClr val="475569"/>
                </a:solidFill>
                <a:latin typeface="Times New Roman" panose="02020603050405020304" pitchFamily="18" charset="0"/>
                <a:ea typeface="Calibri" pitchFamily="34" charset="-122"/>
                <a:cs typeface="Times New Roman" panose="02020603050405020304" pitchFamily="18" charset="0"/>
              </a:rPr>
              <a:t>PII Masking → Gemini 2.5 Flash/Pro → Prisma ORM → Socket.io real-time</a:t>
            </a:r>
          </a:p>
          <a:p>
            <a:endParaRPr lang="en-US" dirty="0"/>
          </a:p>
        </p:txBody>
      </p:sp>
      <p:sp>
        <p:nvSpPr>
          <p:cNvPr id="8" name="Shape 4">
            <a:extLst>
              <a:ext uri="{FF2B5EF4-FFF2-40B4-BE49-F238E27FC236}">
                <a16:creationId xmlns:a16="http://schemas.microsoft.com/office/drawing/2014/main" id="{3052CA88-A78F-4F03-6388-5DEF5A8C4521}"/>
              </a:ext>
            </a:extLst>
          </p:cNvPr>
          <p:cNvSpPr/>
          <p:nvPr/>
        </p:nvSpPr>
        <p:spPr>
          <a:xfrm>
            <a:off x="398039" y="3805082"/>
            <a:ext cx="11372756" cy="1002891"/>
          </a:xfrm>
          <a:prstGeom prst="rect">
            <a:avLst/>
          </a:prstGeom>
          <a:solidFill>
            <a:schemeClr val="bg1">
              <a:lumMod val="95000"/>
            </a:schemeClr>
          </a:solidFill>
          <a:ln w="12700">
            <a:solidFill>
              <a:schemeClr val="accent1">
                <a:lumMod val="75000"/>
              </a:schemeClr>
            </a:solidFill>
            <a:prstDash val="solid"/>
          </a:ln>
          <a:effectLst>
            <a:outerShdw blurRad="101600" dist="38100" dir="8100000" algn="bl" rotWithShape="0">
              <a:srgbClr val="064E3B">
                <a:alpha val="15000"/>
              </a:srgbClr>
            </a:outerShdw>
          </a:effectLst>
        </p:spPr>
        <p:txBody>
          <a:bodyPr/>
          <a:lstStyle/>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r>
              <a:rPr lang="it-IT" b="1" dirty="0">
                <a:solidFill>
                  <a:srgbClr val="1E293B"/>
                </a:solidFill>
                <a:latin typeface="Times New Roman" panose="02020603050405020304" pitchFamily="18" charset="0"/>
                <a:ea typeface="Calibri" pitchFamily="34" charset="-122"/>
                <a:cs typeface="Times New Roman" panose="02020603050405020304" pitchFamily="18" charset="0"/>
              </a:rPr>
              <a:t>Data Layer  (PostgreSQL via Supabase + Prisma ORM)</a:t>
            </a:r>
          </a:p>
          <a:p>
            <a:endParaRPr lang="en-US" b="1" dirty="0">
              <a:solidFill>
                <a:srgbClr val="1E293B"/>
              </a:solidFill>
              <a:latin typeface="Calibri" pitchFamily="34" charset="0"/>
              <a:ea typeface="Calibri" pitchFamily="34" charset="-122"/>
              <a:cs typeface="Calibri" pitchFamily="34" charset="-120"/>
            </a:endParaRPr>
          </a:p>
          <a:p>
            <a:r>
              <a:rPr lang="en-US" b="1" dirty="0">
                <a:solidFill>
                  <a:srgbClr val="1E293B"/>
                </a:solidFill>
                <a:latin typeface="Calibri" pitchFamily="34" charset="0"/>
                <a:ea typeface="Calibri" pitchFamily="34" charset="-122"/>
                <a:cs typeface="Calibri" pitchFamily="34" charset="-120"/>
              </a:rPr>
              <a:t> </a:t>
            </a:r>
            <a:r>
              <a:rPr lang="en-US" dirty="0">
                <a:solidFill>
                  <a:srgbClr val="475569"/>
                </a:solidFill>
                <a:latin typeface="Times New Roman" panose="02020603050405020304" pitchFamily="18" charset="0"/>
                <a:ea typeface="Calibri" pitchFamily="34" charset="-122"/>
                <a:cs typeface="Times New Roman" panose="02020603050405020304" pitchFamily="18" charset="0"/>
              </a:rPr>
              <a:t>Symptom logs · RBAC permissions · Care Circle relationships · Carer notes</a:t>
            </a:r>
          </a:p>
          <a:p>
            <a:endParaRPr lang="en-US" dirty="0"/>
          </a:p>
        </p:txBody>
      </p:sp>
      <p:sp>
        <p:nvSpPr>
          <p:cNvPr id="9" name="Shape 4">
            <a:extLst>
              <a:ext uri="{FF2B5EF4-FFF2-40B4-BE49-F238E27FC236}">
                <a16:creationId xmlns:a16="http://schemas.microsoft.com/office/drawing/2014/main" id="{EE291C7A-AB96-9652-F79C-C4D392577EC7}"/>
              </a:ext>
            </a:extLst>
          </p:cNvPr>
          <p:cNvSpPr/>
          <p:nvPr/>
        </p:nvSpPr>
        <p:spPr>
          <a:xfrm>
            <a:off x="398039" y="5063611"/>
            <a:ext cx="11372756" cy="1002891"/>
          </a:xfrm>
          <a:prstGeom prst="rect">
            <a:avLst/>
          </a:prstGeom>
          <a:solidFill>
            <a:schemeClr val="bg1">
              <a:lumMod val="95000"/>
            </a:schemeClr>
          </a:solidFill>
          <a:ln w="12700">
            <a:solidFill>
              <a:schemeClr val="accent1">
                <a:lumMod val="75000"/>
              </a:schemeClr>
            </a:solidFill>
            <a:prstDash val="solid"/>
          </a:ln>
          <a:effectLst>
            <a:outerShdw blurRad="101600" dist="38100" dir="8100000" algn="bl" rotWithShape="0">
              <a:srgbClr val="064E3B">
                <a:alpha val="15000"/>
              </a:srgbClr>
            </a:outerShdw>
          </a:effectLst>
        </p:spPr>
        <p:txBody>
          <a:bodyPr/>
          <a:lstStyle/>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AI &amp; Security  (Gemini 2.5 Flash / Pro  +  Capacitor Secure Storage)</a:t>
            </a:r>
          </a:p>
          <a:p>
            <a:endParaRPr lang="en-US" b="1" dirty="0">
              <a:solidFill>
                <a:srgbClr val="1E293B"/>
              </a:solidFill>
              <a:latin typeface="Calibri" pitchFamily="34" charset="0"/>
              <a:ea typeface="Calibri" pitchFamily="34" charset="-122"/>
              <a:cs typeface="Calibri" pitchFamily="34" charset="-120"/>
            </a:endParaRPr>
          </a:p>
          <a:p>
            <a:r>
              <a:rPr lang="en-US" b="1" dirty="0">
                <a:solidFill>
                  <a:srgbClr val="1E293B"/>
                </a:solidFill>
                <a:latin typeface="Calibri" pitchFamily="34" charset="0"/>
                <a:ea typeface="Calibri" pitchFamily="34" charset="-122"/>
                <a:cs typeface="Calibri" pitchFamily="34" charset="-120"/>
              </a:rPr>
              <a:t> </a:t>
            </a:r>
            <a:r>
              <a:rPr lang="en-US" dirty="0">
                <a:solidFill>
                  <a:srgbClr val="475569"/>
                </a:solidFill>
                <a:latin typeface="Times New Roman" panose="02020603050405020304" pitchFamily="18" charset="0"/>
                <a:ea typeface="Calibri" pitchFamily="34" charset="-122"/>
                <a:cs typeface="Times New Roman" panose="02020603050405020304" pitchFamily="18" charset="0"/>
              </a:rPr>
              <a:t>Multi-model fallback chain · PII redaction gatekeeper · Hardware-level session token storage</a:t>
            </a:r>
          </a:p>
          <a:p>
            <a:endParaRPr lang="en-US" dirty="0"/>
          </a:p>
        </p:txBody>
      </p:sp>
      <p:sp>
        <p:nvSpPr>
          <p:cNvPr id="11" name="Shape 5">
            <a:extLst>
              <a:ext uri="{FF2B5EF4-FFF2-40B4-BE49-F238E27FC236}">
                <a16:creationId xmlns:a16="http://schemas.microsoft.com/office/drawing/2014/main" id="{910BBEA7-DD37-61B2-7D66-81B59EB1B8B3}"/>
              </a:ext>
            </a:extLst>
          </p:cNvPr>
          <p:cNvSpPr/>
          <p:nvPr/>
        </p:nvSpPr>
        <p:spPr>
          <a:xfrm>
            <a:off x="398039" y="2521974"/>
            <a:ext cx="95157" cy="1002890"/>
          </a:xfrm>
          <a:prstGeom prst="rect">
            <a:avLst/>
          </a:prstGeom>
          <a:solidFill>
            <a:schemeClr val="accent1">
              <a:lumMod val="75000"/>
            </a:schemeClr>
          </a:solidFill>
          <a:ln w="12700">
            <a:solidFill>
              <a:srgbClr val="0D9488"/>
            </a:solidFill>
            <a:prstDash val="solid"/>
          </a:ln>
        </p:spPr>
        <p:txBody>
          <a:bodyPr/>
          <a:lstStyle/>
          <a:p>
            <a:endParaRPr lang="en-IN" dirty="0"/>
          </a:p>
        </p:txBody>
      </p:sp>
      <p:sp>
        <p:nvSpPr>
          <p:cNvPr id="12" name="Shape 5">
            <a:extLst>
              <a:ext uri="{FF2B5EF4-FFF2-40B4-BE49-F238E27FC236}">
                <a16:creationId xmlns:a16="http://schemas.microsoft.com/office/drawing/2014/main" id="{E0CE0BEA-9089-3527-4E3B-10682971FBB1}"/>
              </a:ext>
            </a:extLst>
          </p:cNvPr>
          <p:cNvSpPr/>
          <p:nvPr/>
        </p:nvSpPr>
        <p:spPr>
          <a:xfrm>
            <a:off x="373625" y="3805083"/>
            <a:ext cx="95157" cy="1002890"/>
          </a:xfrm>
          <a:prstGeom prst="rect">
            <a:avLst/>
          </a:prstGeom>
          <a:solidFill>
            <a:schemeClr val="accent2">
              <a:lumMod val="75000"/>
            </a:schemeClr>
          </a:solidFill>
          <a:ln w="12700">
            <a:solidFill>
              <a:srgbClr val="0D9488"/>
            </a:solidFill>
            <a:prstDash val="solid"/>
          </a:ln>
        </p:spPr>
        <p:txBody>
          <a:bodyPr/>
          <a:lstStyle/>
          <a:p>
            <a:endParaRPr lang="en-IN" dirty="0"/>
          </a:p>
        </p:txBody>
      </p:sp>
      <p:sp>
        <p:nvSpPr>
          <p:cNvPr id="13" name="Shape 5">
            <a:extLst>
              <a:ext uri="{FF2B5EF4-FFF2-40B4-BE49-F238E27FC236}">
                <a16:creationId xmlns:a16="http://schemas.microsoft.com/office/drawing/2014/main" id="{6C7C28B0-BD05-6C63-3125-4F3BE5D0FC13}"/>
              </a:ext>
            </a:extLst>
          </p:cNvPr>
          <p:cNvSpPr/>
          <p:nvPr/>
        </p:nvSpPr>
        <p:spPr>
          <a:xfrm>
            <a:off x="373624" y="5058696"/>
            <a:ext cx="95157" cy="1002890"/>
          </a:xfrm>
          <a:prstGeom prst="rect">
            <a:avLst/>
          </a:prstGeom>
          <a:solidFill>
            <a:schemeClr val="accent2">
              <a:lumMod val="50000"/>
            </a:schemeClr>
          </a:solidFill>
          <a:ln w="12700">
            <a:solidFill>
              <a:srgbClr val="0D9488"/>
            </a:solidFill>
            <a:prstDash val="solid"/>
          </a:ln>
        </p:spPr>
        <p:txBody>
          <a:bodyPr/>
          <a:lstStyle/>
          <a:p>
            <a:endParaRPr lang="en-IN" dirty="0"/>
          </a:p>
        </p:txBody>
      </p:sp>
      <p:pic>
        <p:nvPicPr>
          <p:cNvPr id="15" name="Picture 14">
            <a:extLst>
              <a:ext uri="{FF2B5EF4-FFF2-40B4-BE49-F238E27FC236}">
                <a16:creationId xmlns:a16="http://schemas.microsoft.com/office/drawing/2014/main" id="{4601E2B3-CCCD-A6C5-C635-7D6536539B32}"/>
              </a:ext>
            </a:extLst>
          </p:cNvPr>
          <p:cNvPicPr>
            <a:picLocks noChangeAspect="1"/>
          </p:cNvPicPr>
          <p:nvPr/>
        </p:nvPicPr>
        <p:blipFill>
          <a:blip r:embed="rId2"/>
          <a:stretch>
            <a:fillRect/>
          </a:stretch>
        </p:blipFill>
        <p:spPr>
          <a:xfrm>
            <a:off x="10606903" y="0"/>
            <a:ext cx="1585097" cy="579170"/>
          </a:xfrm>
          <a:prstGeom prst="rect">
            <a:avLst/>
          </a:prstGeom>
        </p:spPr>
      </p:pic>
    </p:spTree>
    <p:extLst>
      <p:ext uri="{BB962C8B-B14F-4D97-AF65-F5344CB8AC3E}">
        <p14:creationId xmlns:p14="http://schemas.microsoft.com/office/powerpoint/2010/main" val="42789514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8"/>
                                        </p:tgtEl>
                                      </p:cBhvr>
                                    </p:animEffect>
                                    <p:animScale>
                                      <p:cBhvr>
                                        <p:cTn id="17" dur="250" autoRev="1" fill="hold"/>
                                        <p:tgtEl>
                                          <p:spTgt spid="8"/>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9"/>
                                        </p:tgtEl>
                                      </p:cBhvr>
                                    </p:animEffect>
                                    <p:animScale>
                                      <p:cBhvr>
                                        <p:cTn id="22"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55278">
              <a:schemeClr val="accent2">
                <a:lumMod val="60000"/>
                <a:lumOff val="4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9D9EB52-5604-F026-3E3F-02AC29DD5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D6975-4435-82CD-C92A-F1D9EC1DD50A}"/>
              </a:ext>
            </a:extLst>
          </p:cNvPr>
          <p:cNvSpPr>
            <a:spLocks noGrp="1"/>
          </p:cNvSpPr>
          <p:nvPr>
            <p:ph type="title"/>
          </p:nvPr>
        </p:nvSpPr>
        <p:spPr>
          <a:xfrm>
            <a:off x="677334" y="339213"/>
            <a:ext cx="8596668" cy="737419"/>
          </a:xfrm>
        </p:spPr>
        <p:txBody>
          <a:bodyPr>
            <a:normAutofit/>
          </a:bodyPr>
          <a:lstStyle/>
          <a:p>
            <a:r>
              <a:rPr lang="en-US" sz="4000" b="1" dirty="0">
                <a:solidFill>
                  <a:schemeClr val="accent2">
                    <a:lumMod val="50000"/>
                  </a:schemeClr>
                </a:solidFill>
                <a:latin typeface="Times New Roman" panose="02020603050405020304" pitchFamily="18" charset="0"/>
                <a:cs typeface="Times New Roman" panose="02020603050405020304" pitchFamily="18" charset="0"/>
              </a:rPr>
              <a:t>Key Technical Decisions</a:t>
            </a:r>
            <a:endParaRPr lang="en-IN" sz="40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3" name="Shape 4">
            <a:extLst>
              <a:ext uri="{FF2B5EF4-FFF2-40B4-BE49-F238E27FC236}">
                <a16:creationId xmlns:a16="http://schemas.microsoft.com/office/drawing/2014/main" id="{4A13FD7B-0EA5-3B0E-4287-AA0ECB161BC1}"/>
              </a:ext>
            </a:extLst>
          </p:cNvPr>
          <p:cNvSpPr/>
          <p:nvPr/>
        </p:nvSpPr>
        <p:spPr>
          <a:xfrm>
            <a:off x="373624" y="1297857"/>
            <a:ext cx="5493068" cy="2488028"/>
          </a:xfrm>
          <a:prstGeom prst="rect">
            <a:avLst/>
          </a:prstGeom>
          <a:solidFill>
            <a:schemeClr val="bg1">
              <a:lumMod val="95000"/>
            </a:schemeClr>
          </a:solidFill>
          <a:ln w="12700">
            <a:solidFill>
              <a:schemeClr val="accent1">
                <a:lumMod val="75000"/>
              </a:schemeClr>
            </a:solidFill>
            <a:prstDash val="solid"/>
          </a:ln>
          <a:effectLst>
            <a:outerShdw blurRad="101600" dist="38100" dir="8100000" algn="bl" rotWithShape="0">
              <a:srgbClr val="064E3B">
                <a:alpha val="15000"/>
              </a:srgbClr>
            </a:outerShdw>
          </a:effectLst>
        </p:spPr>
        <p:txBody>
          <a:bodyPr/>
          <a:lstStyle/>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p>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p>
          <a:p>
            <a:endParaRPr lang="en-US" b="1" dirty="0">
              <a:solidFill>
                <a:srgbClr val="1E293B"/>
              </a:solidFill>
              <a:latin typeface="Times New Roman" panose="02020603050405020304" pitchFamily="18" charset="0"/>
              <a:ea typeface="Calibri" pitchFamily="34" charset="-122"/>
              <a:cs typeface="Times New Roman" panose="02020603050405020304" pitchFamily="18" charset="0"/>
            </a:endParaRPr>
          </a:p>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GPT-4o  →  Gemini 2.5 Flash</a:t>
            </a:r>
          </a:p>
          <a:p>
            <a:endParaRPr lang="en-US" b="1" dirty="0">
              <a:solidFill>
                <a:srgbClr val="1E293B"/>
              </a:solidFill>
              <a:latin typeface="Calibri" pitchFamily="34" charset="0"/>
              <a:ea typeface="Calibri" pitchFamily="34" charset="-122"/>
              <a:cs typeface="Calibri" pitchFamily="34" charset="-120"/>
            </a:endParaRPr>
          </a:p>
          <a:p>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Superior structured JSON extraction from multi-modal voice/text. Chain-of-thought prompting forces valid 5-pillar output - GPT-4o produced inconsistent schema adherence.</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4" name="Shape 5">
            <a:extLst>
              <a:ext uri="{FF2B5EF4-FFF2-40B4-BE49-F238E27FC236}">
                <a16:creationId xmlns:a16="http://schemas.microsoft.com/office/drawing/2014/main" id="{F4140E71-7F7A-2C95-BDA8-13BEE5C95156}"/>
              </a:ext>
            </a:extLst>
          </p:cNvPr>
          <p:cNvSpPr/>
          <p:nvPr/>
        </p:nvSpPr>
        <p:spPr>
          <a:xfrm>
            <a:off x="243348" y="1293402"/>
            <a:ext cx="167148" cy="2488027"/>
          </a:xfrm>
          <a:prstGeom prst="rect">
            <a:avLst/>
          </a:prstGeom>
          <a:solidFill>
            <a:srgbClr val="0D9488"/>
          </a:solidFill>
          <a:ln w="12700">
            <a:solidFill>
              <a:srgbClr val="0D9488"/>
            </a:solidFill>
            <a:prstDash val="solid"/>
          </a:ln>
        </p:spPr>
        <p:txBody>
          <a:bodyPr/>
          <a:lstStyle/>
          <a:p>
            <a:endParaRPr lang="en-IN" dirty="0"/>
          </a:p>
        </p:txBody>
      </p:sp>
      <p:pic>
        <p:nvPicPr>
          <p:cNvPr id="15" name="Picture 14">
            <a:extLst>
              <a:ext uri="{FF2B5EF4-FFF2-40B4-BE49-F238E27FC236}">
                <a16:creationId xmlns:a16="http://schemas.microsoft.com/office/drawing/2014/main" id="{340D3256-FB45-704D-8F2B-B990EB61E071}"/>
              </a:ext>
            </a:extLst>
          </p:cNvPr>
          <p:cNvPicPr>
            <a:picLocks noChangeAspect="1"/>
          </p:cNvPicPr>
          <p:nvPr/>
        </p:nvPicPr>
        <p:blipFill>
          <a:blip r:embed="rId2"/>
          <a:stretch>
            <a:fillRect/>
          </a:stretch>
        </p:blipFill>
        <p:spPr>
          <a:xfrm>
            <a:off x="10606903" y="-2483"/>
            <a:ext cx="1585097" cy="579170"/>
          </a:xfrm>
          <a:prstGeom prst="rect">
            <a:avLst/>
          </a:prstGeom>
        </p:spPr>
      </p:pic>
      <p:sp>
        <p:nvSpPr>
          <p:cNvPr id="5" name="Shape 6">
            <a:extLst>
              <a:ext uri="{FF2B5EF4-FFF2-40B4-BE49-F238E27FC236}">
                <a16:creationId xmlns:a16="http://schemas.microsoft.com/office/drawing/2014/main" id="{1BFBCB71-D4A4-3E4B-2BE7-280DBA9FDEF5}"/>
              </a:ext>
            </a:extLst>
          </p:cNvPr>
          <p:cNvSpPr/>
          <p:nvPr/>
        </p:nvSpPr>
        <p:spPr>
          <a:xfrm>
            <a:off x="614515" y="1497453"/>
            <a:ext cx="1469924" cy="439502"/>
          </a:xfrm>
          <a:prstGeom prst="roundRect">
            <a:avLst>
              <a:gd name="adj" fmla="val 15385"/>
            </a:avLst>
          </a:prstGeom>
          <a:solidFill>
            <a:srgbClr val="0D9488"/>
          </a:solidFill>
          <a:ln w="12700">
            <a:solidFill>
              <a:srgbClr val="0D9488"/>
            </a:solidFill>
            <a:prstDash val="solid"/>
          </a:ln>
        </p:spPr>
        <p:txBody>
          <a:bodyPr/>
          <a:lstStyle/>
          <a:p>
            <a:pPr algn="ctr"/>
            <a:r>
              <a:rPr lang="en-US" i="1" dirty="0">
                <a:solidFill>
                  <a:schemeClr val="bg1"/>
                </a:solidFill>
                <a:latin typeface="Times New Roman" panose="02020603050405020304" pitchFamily="18" charset="0"/>
                <a:cs typeface="Times New Roman" panose="02020603050405020304" pitchFamily="18" charset="0"/>
              </a:rPr>
              <a:t>AI ENGINE</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6" name="Shape 5">
            <a:extLst>
              <a:ext uri="{FF2B5EF4-FFF2-40B4-BE49-F238E27FC236}">
                <a16:creationId xmlns:a16="http://schemas.microsoft.com/office/drawing/2014/main" id="{D51C435A-075B-7498-EBAE-A12C7989862A}"/>
              </a:ext>
            </a:extLst>
          </p:cNvPr>
          <p:cNvSpPr/>
          <p:nvPr/>
        </p:nvSpPr>
        <p:spPr>
          <a:xfrm>
            <a:off x="6166409" y="1317054"/>
            <a:ext cx="167148" cy="2488027"/>
          </a:xfrm>
          <a:prstGeom prst="rect">
            <a:avLst/>
          </a:prstGeom>
          <a:solidFill>
            <a:srgbClr val="EE7012"/>
          </a:solidFill>
          <a:ln w="12700">
            <a:solidFill>
              <a:srgbClr val="0D9488"/>
            </a:solidFill>
            <a:prstDash val="solid"/>
          </a:ln>
        </p:spPr>
        <p:txBody>
          <a:bodyPr/>
          <a:lstStyle/>
          <a:p>
            <a:endParaRPr lang="en-IN" dirty="0"/>
          </a:p>
        </p:txBody>
      </p:sp>
      <p:sp>
        <p:nvSpPr>
          <p:cNvPr id="14" name="Shape 4">
            <a:extLst>
              <a:ext uri="{FF2B5EF4-FFF2-40B4-BE49-F238E27FC236}">
                <a16:creationId xmlns:a16="http://schemas.microsoft.com/office/drawing/2014/main" id="{53C2096D-DFCF-6468-3407-A917BDDF8CB2}"/>
              </a:ext>
            </a:extLst>
          </p:cNvPr>
          <p:cNvSpPr/>
          <p:nvPr/>
        </p:nvSpPr>
        <p:spPr>
          <a:xfrm>
            <a:off x="6325308" y="1317053"/>
            <a:ext cx="5493068" cy="2488028"/>
          </a:xfrm>
          <a:prstGeom prst="rect">
            <a:avLst/>
          </a:prstGeom>
          <a:solidFill>
            <a:schemeClr val="bg1">
              <a:lumMod val="95000"/>
            </a:schemeClr>
          </a:solidFill>
          <a:ln w="12700">
            <a:solidFill>
              <a:schemeClr val="accent1">
                <a:lumMod val="75000"/>
              </a:schemeClr>
            </a:solidFill>
            <a:prstDash val="solid"/>
          </a:ln>
          <a:effectLst>
            <a:outerShdw blurRad="101600" dist="38100" dir="8100000" algn="bl" rotWithShape="0">
              <a:srgbClr val="064E3B">
                <a:alpha val="15000"/>
              </a:srgbClr>
            </a:outerShdw>
          </a:effectLst>
        </p:spPr>
        <p:txBody>
          <a:bodyPr/>
          <a:lstStyle/>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p>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p>
          <a:p>
            <a:endParaRPr lang="en-US" b="1" dirty="0">
              <a:solidFill>
                <a:srgbClr val="1E293B"/>
              </a:solidFill>
              <a:latin typeface="Times New Roman" panose="02020603050405020304" pitchFamily="18" charset="0"/>
              <a:ea typeface="Calibri" pitchFamily="34" charset="-122"/>
              <a:cs typeface="Times New Roman" panose="02020603050405020304" pitchFamily="18" charset="0"/>
            </a:endParaRPr>
          </a:p>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Voice-to-Text  →  PII Gatekeeper</a:t>
            </a:r>
          </a:p>
          <a:p>
            <a:endParaRPr lang="en-US" b="1" dirty="0">
              <a:solidFill>
                <a:srgbClr val="1E293B"/>
              </a:solidFill>
              <a:latin typeface="Calibri" pitchFamily="34" charset="0"/>
              <a:ea typeface="Calibri" pitchFamily="34" charset="-122"/>
              <a:cs typeface="Calibri" pitchFamily="34" charset="-120"/>
            </a:endParaRPr>
          </a:p>
          <a:p>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Transmitting raw audio from CTE patients to external APIs violates GDPR. </a:t>
            </a:r>
            <a:r>
              <a:rPr lang="en-US" sz="1600" dirty="0" err="1">
                <a:solidFill>
                  <a:srgbClr val="475569"/>
                </a:solidFill>
                <a:latin typeface="Times New Roman" panose="02020603050405020304" pitchFamily="18" charset="0"/>
                <a:ea typeface="Calibri" pitchFamily="34" charset="-122"/>
                <a:cs typeface="Times New Roman" panose="02020603050405020304" pitchFamily="18" charset="0"/>
              </a:rPr>
              <a:t>js</a:t>
            </a: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a:t>
            </a:r>
            <a:r>
              <a:rPr lang="en-US" sz="1600" dirty="0" err="1">
                <a:solidFill>
                  <a:srgbClr val="475569"/>
                </a:solidFill>
                <a:latin typeface="Times New Roman" panose="02020603050405020304" pitchFamily="18" charset="0"/>
                <a:ea typeface="Calibri" pitchFamily="34" charset="-122"/>
                <a:cs typeface="Times New Roman" panose="02020603050405020304" pitchFamily="18" charset="0"/>
              </a:rPr>
              <a:t>pii</a:t>
            </a: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-mask redacts identity at the server boundary — the Cloud-Privacy Paradox made this substitution mandatory.</a:t>
            </a:r>
          </a:p>
          <a:p>
            <a:endParaRPr lang="en-US" sz="1600" dirty="0">
              <a:latin typeface="Times New Roman" panose="02020603050405020304" pitchFamily="18" charset="0"/>
              <a:cs typeface="Times New Roman" panose="02020603050405020304" pitchFamily="18" charset="0"/>
            </a:endParaRPr>
          </a:p>
        </p:txBody>
      </p:sp>
      <p:sp>
        <p:nvSpPr>
          <p:cNvPr id="16" name="Shape 6">
            <a:extLst>
              <a:ext uri="{FF2B5EF4-FFF2-40B4-BE49-F238E27FC236}">
                <a16:creationId xmlns:a16="http://schemas.microsoft.com/office/drawing/2014/main" id="{D124EBFC-125B-89E3-F7C5-8CBD7B08D999}"/>
              </a:ext>
            </a:extLst>
          </p:cNvPr>
          <p:cNvSpPr/>
          <p:nvPr/>
        </p:nvSpPr>
        <p:spPr>
          <a:xfrm>
            <a:off x="6633274" y="1497453"/>
            <a:ext cx="1469924" cy="439502"/>
          </a:xfrm>
          <a:prstGeom prst="roundRect">
            <a:avLst>
              <a:gd name="adj" fmla="val 15385"/>
            </a:avLst>
          </a:prstGeom>
          <a:solidFill>
            <a:srgbClr val="EE7012"/>
          </a:solidFill>
          <a:ln w="12700">
            <a:solidFill>
              <a:srgbClr val="0D9488"/>
            </a:solidFill>
            <a:prstDash val="solid"/>
          </a:ln>
        </p:spPr>
        <p:txBody>
          <a:bodyPr/>
          <a:lstStyle/>
          <a:p>
            <a:pPr algn="ctr"/>
            <a:r>
              <a:rPr lang="en-US" i="1" dirty="0">
                <a:solidFill>
                  <a:schemeClr val="bg1"/>
                </a:solidFill>
                <a:latin typeface="Times New Roman" panose="02020603050405020304" pitchFamily="18" charset="0"/>
                <a:cs typeface="Times New Roman" panose="02020603050405020304" pitchFamily="18" charset="0"/>
              </a:rPr>
              <a:t>PRIVACY</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7" name="Shape 4">
            <a:extLst>
              <a:ext uri="{FF2B5EF4-FFF2-40B4-BE49-F238E27FC236}">
                <a16:creationId xmlns:a16="http://schemas.microsoft.com/office/drawing/2014/main" id="{CF9A2125-FC44-AED7-EA7E-92DA26F47108}"/>
              </a:ext>
            </a:extLst>
          </p:cNvPr>
          <p:cNvSpPr/>
          <p:nvPr/>
        </p:nvSpPr>
        <p:spPr>
          <a:xfrm>
            <a:off x="373624" y="4082870"/>
            <a:ext cx="5493068" cy="2488028"/>
          </a:xfrm>
          <a:prstGeom prst="rect">
            <a:avLst/>
          </a:prstGeom>
          <a:solidFill>
            <a:schemeClr val="bg1">
              <a:lumMod val="95000"/>
            </a:schemeClr>
          </a:solidFill>
          <a:ln w="12700">
            <a:solidFill>
              <a:schemeClr val="accent1">
                <a:lumMod val="75000"/>
              </a:schemeClr>
            </a:solidFill>
            <a:prstDash val="solid"/>
          </a:ln>
          <a:effectLst>
            <a:outerShdw blurRad="101600" dist="38100" dir="8100000" algn="bl" rotWithShape="0">
              <a:srgbClr val="064E3B">
                <a:alpha val="15000"/>
              </a:srgbClr>
            </a:outerShdw>
          </a:effectLst>
        </p:spPr>
        <p:txBody>
          <a:bodyPr/>
          <a:lstStyle/>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p>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p>
          <a:p>
            <a:endParaRPr lang="en-US" b="1" dirty="0">
              <a:solidFill>
                <a:srgbClr val="1E293B"/>
              </a:solidFill>
              <a:latin typeface="Times New Roman" panose="02020603050405020304" pitchFamily="18" charset="0"/>
              <a:ea typeface="Calibri" pitchFamily="34" charset="-122"/>
              <a:cs typeface="Times New Roman" panose="02020603050405020304" pitchFamily="18" charset="0"/>
            </a:endParaRPr>
          </a:p>
          <a:p>
            <a:r>
              <a:rPr lang="en-US" b="1" dirty="0" err="1">
                <a:solidFill>
                  <a:srgbClr val="1E293B"/>
                </a:solidFill>
                <a:latin typeface="Times New Roman" panose="02020603050405020304" pitchFamily="18" charset="0"/>
                <a:ea typeface="Calibri" pitchFamily="34" charset="-122"/>
                <a:cs typeface="Times New Roman" panose="02020603050405020304" pitchFamily="18" charset="0"/>
              </a:rPr>
              <a:t>localStorage</a:t>
            </a:r>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  Capacitor Secure Storage</a:t>
            </a:r>
          </a:p>
          <a:p>
            <a:endParaRPr lang="en-US" b="1" dirty="0">
              <a:solidFill>
                <a:srgbClr val="1E293B"/>
              </a:solidFill>
              <a:latin typeface="Calibri" pitchFamily="34" charset="0"/>
              <a:ea typeface="Calibri" pitchFamily="34" charset="-122"/>
              <a:cs typeface="Calibri" pitchFamily="34" charset="-120"/>
            </a:endParaRPr>
          </a:p>
          <a:p>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Session tokens on a clinical mobile device require hardware-level protection (device keystore / Secure Enclave). </a:t>
            </a:r>
            <a:r>
              <a:rPr lang="en-US" sz="1600" dirty="0" err="1">
                <a:solidFill>
                  <a:srgbClr val="475569"/>
                </a:solidFill>
                <a:latin typeface="Times New Roman" panose="02020603050405020304" pitchFamily="18" charset="0"/>
                <a:ea typeface="Calibri" pitchFamily="34" charset="-122"/>
                <a:cs typeface="Times New Roman" panose="02020603050405020304" pitchFamily="18" charset="0"/>
              </a:rPr>
              <a:t>localStorage</a:t>
            </a: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 is unencrypted and accessible to any JS on the page.</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18" name="Shape 5">
            <a:extLst>
              <a:ext uri="{FF2B5EF4-FFF2-40B4-BE49-F238E27FC236}">
                <a16:creationId xmlns:a16="http://schemas.microsoft.com/office/drawing/2014/main" id="{1D111A25-BB47-329C-97D8-11A470EF6BBE}"/>
              </a:ext>
            </a:extLst>
          </p:cNvPr>
          <p:cNvSpPr/>
          <p:nvPr/>
        </p:nvSpPr>
        <p:spPr>
          <a:xfrm>
            <a:off x="226056" y="4082870"/>
            <a:ext cx="167148" cy="2488027"/>
          </a:xfrm>
          <a:prstGeom prst="rect">
            <a:avLst/>
          </a:prstGeom>
          <a:solidFill>
            <a:srgbClr val="72A528"/>
          </a:solidFill>
          <a:ln w="12700">
            <a:solidFill>
              <a:srgbClr val="0D9488"/>
            </a:solidFill>
            <a:prstDash val="solid"/>
          </a:ln>
        </p:spPr>
        <p:txBody>
          <a:bodyPr/>
          <a:lstStyle/>
          <a:p>
            <a:endParaRPr lang="en-IN" dirty="0"/>
          </a:p>
        </p:txBody>
      </p:sp>
      <p:sp>
        <p:nvSpPr>
          <p:cNvPr id="19" name="Shape 6">
            <a:extLst>
              <a:ext uri="{FF2B5EF4-FFF2-40B4-BE49-F238E27FC236}">
                <a16:creationId xmlns:a16="http://schemas.microsoft.com/office/drawing/2014/main" id="{22E37C3A-1610-EA63-AD3D-0500455B9D35}"/>
              </a:ext>
            </a:extLst>
          </p:cNvPr>
          <p:cNvSpPr/>
          <p:nvPr/>
        </p:nvSpPr>
        <p:spPr>
          <a:xfrm>
            <a:off x="622512" y="4270848"/>
            <a:ext cx="1469924" cy="439502"/>
          </a:xfrm>
          <a:prstGeom prst="roundRect">
            <a:avLst>
              <a:gd name="adj" fmla="val 15385"/>
            </a:avLst>
          </a:prstGeom>
          <a:solidFill>
            <a:schemeClr val="accent6">
              <a:lumMod val="75000"/>
            </a:schemeClr>
          </a:solidFill>
          <a:ln w="12700">
            <a:solidFill>
              <a:srgbClr val="0D9488"/>
            </a:solidFill>
            <a:prstDash val="solid"/>
          </a:ln>
        </p:spPr>
        <p:txBody>
          <a:bodyPr/>
          <a:lstStyle/>
          <a:p>
            <a:pPr algn="ctr"/>
            <a:r>
              <a:rPr lang="en-US" i="1" dirty="0">
                <a:solidFill>
                  <a:schemeClr val="bg1"/>
                </a:solidFill>
                <a:latin typeface="Times New Roman" panose="02020603050405020304" pitchFamily="18" charset="0"/>
                <a:cs typeface="Times New Roman" panose="02020603050405020304" pitchFamily="18" charset="0"/>
              </a:rPr>
              <a:t>SECURITY</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20" name="Shape 4">
            <a:extLst>
              <a:ext uri="{FF2B5EF4-FFF2-40B4-BE49-F238E27FC236}">
                <a16:creationId xmlns:a16="http://schemas.microsoft.com/office/drawing/2014/main" id="{025E6F8C-3D0B-6682-CB67-D68AB6EAB424}"/>
              </a:ext>
            </a:extLst>
          </p:cNvPr>
          <p:cNvSpPr/>
          <p:nvPr/>
        </p:nvSpPr>
        <p:spPr>
          <a:xfrm>
            <a:off x="6325308" y="4082870"/>
            <a:ext cx="5493068" cy="2488028"/>
          </a:xfrm>
          <a:prstGeom prst="rect">
            <a:avLst/>
          </a:prstGeom>
          <a:solidFill>
            <a:schemeClr val="bg1">
              <a:lumMod val="95000"/>
            </a:schemeClr>
          </a:solidFill>
          <a:ln w="12700">
            <a:solidFill>
              <a:schemeClr val="accent1">
                <a:lumMod val="75000"/>
              </a:schemeClr>
            </a:solidFill>
            <a:prstDash val="solid"/>
          </a:ln>
          <a:effectLst>
            <a:outerShdw blurRad="101600" dist="38100" dir="8100000" algn="bl" rotWithShape="0">
              <a:srgbClr val="064E3B">
                <a:alpha val="15000"/>
              </a:srgbClr>
            </a:outerShdw>
          </a:effectLst>
        </p:spPr>
        <p:txBody>
          <a:bodyPr/>
          <a:lstStyle/>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p>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  </a:t>
            </a:r>
          </a:p>
          <a:p>
            <a:endParaRPr lang="en-US" b="1" dirty="0">
              <a:solidFill>
                <a:srgbClr val="1E293B"/>
              </a:solidFill>
              <a:latin typeface="Times New Roman" panose="02020603050405020304" pitchFamily="18" charset="0"/>
              <a:ea typeface="Calibri" pitchFamily="34" charset="-122"/>
              <a:cs typeface="Times New Roman" panose="02020603050405020304" pitchFamily="18" charset="0"/>
            </a:endParaRPr>
          </a:p>
          <a:p>
            <a:r>
              <a:rPr lang="en-US" b="1" dirty="0">
                <a:solidFill>
                  <a:srgbClr val="1E293B"/>
                </a:solidFill>
                <a:latin typeface="Times New Roman" panose="02020603050405020304" pitchFamily="18" charset="0"/>
                <a:ea typeface="Calibri" pitchFamily="34" charset="-122"/>
                <a:cs typeface="Times New Roman" panose="02020603050405020304" pitchFamily="18" charset="0"/>
              </a:rPr>
              <a:t>REST polling  →  Socket.io Channel</a:t>
            </a:r>
          </a:p>
          <a:p>
            <a:endParaRPr lang="en-US" b="1" dirty="0">
              <a:solidFill>
                <a:srgbClr val="1E293B"/>
              </a:solidFill>
              <a:latin typeface="Calibri" pitchFamily="34" charset="0"/>
              <a:ea typeface="Calibri" pitchFamily="34" charset="-122"/>
              <a:cs typeface="Calibri" pitchFamily="34" charset="-120"/>
            </a:endParaRPr>
          </a:p>
          <a:p>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Care circle needs real time chat updates. Polling degrades performance, Socket.io maintains a stateful room per patient with targeted broadcasts to authorized carers only.</a:t>
            </a:r>
          </a:p>
          <a:p>
            <a:endParaRPr lang="en-US" sz="1600" dirty="0">
              <a:latin typeface="Times New Roman" panose="02020603050405020304" pitchFamily="18" charset="0"/>
              <a:cs typeface="Times New Roman" panose="02020603050405020304" pitchFamily="18" charset="0"/>
            </a:endParaRPr>
          </a:p>
        </p:txBody>
      </p:sp>
      <p:sp>
        <p:nvSpPr>
          <p:cNvPr id="21" name="Shape 5">
            <a:extLst>
              <a:ext uri="{FF2B5EF4-FFF2-40B4-BE49-F238E27FC236}">
                <a16:creationId xmlns:a16="http://schemas.microsoft.com/office/drawing/2014/main" id="{93E92B8D-9521-9AE9-5988-4472270C17C2}"/>
              </a:ext>
            </a:extLst>
          </p:cNvPr>
          <p:cNvSpPr/>
          <p:nvPr/>
        </p:nvSpPr>
        <p:spPr>
          <a:xfrm>
            <a:off x="6166409" y="4082869"/>
            <a:ext cx="167148" cy="2488027"/>
          </a:xfrm>
          <a:prstGeom prst="rect">
            <a:avLst/>
          </a:prstGeom>
          <a:solidFill>
            <a:srgbClr val="215828"/>
          </a:solidFill>
          <a:ln w="12700">
            <a:solidFill>
              <a:srgbClr val="0D9488"/>
            </a:solidFill>
            <a:prstDash val="solid"/>
          </a:ln>
        </p:spPr>
        <p:txBody>
          <a:bodyPr/>
          <a:lstStyle/>
          <a:p>
            <a:endParaRPr lang="en-IN" dirty="0"/>
          </a:p>
        </p:txBody>
      </p:sp>
      <p:sp>
        <p:nvSpPr>
          <p:cNvPr id="22" name="Shape 6">
            <a:extLst>
              <a:ext uri="{FF2B5EF4-FFF2-40B4-BE49-F238E27FC236}">
                <a16:creationId xmlns:a16="http://schemas.microsoft.com/office/drawing/2014/main" id="{E9783694-AD27-AF27-187E-EF4700ED1D06}"/>
              </a:ext>
            </a:extLst>
          </p:cNvPr>
          <p:cNvSpPr/>
          <p:nvPr/>
        </p:nvSpPr>
        <p:spPr>
          <a:xfrm>
            <a:off x="6633274" y="4270848"/>
            <a:ext cx="1469924" cy="439502"/>
          </a:xfrm>
          <a:prstGeom prst="roundRect">
            <a:avLst>
              <a:gd name="adj" fmla="val 15385"/>
            </a:avLst>
          </a:prstGeom>
          <a:solidFill>
            <a:schemeClr val="accent5">
              <a:lumMod val="50000"/>
            </a:schemeClr>
          </a:solidFill>
          <a:ln w="12700">
            <a:solidFill>
              <a:srgbClr val="0D9488"/>
            </a:solidFill>
            <a:prstDash val="solid"/>
          </a:ln>
        </p:spPr>
        <p:txBody>
          <a:bodyPr/>
          <a:lstStyle/>
          <a:p>
            <a:pPr algn="ctr"/>
            <a:r>
              <a:rPr lang="en-US" i="1" dirty="0">
                <a:solidFill>
                  <a:schemeClr val="bg1"/>
                </a:solidFill>
                <a:latin typeface="Times New Roman" panose="02020603050405020304" pitchFamily="18" charset="0"/>
                <a:cs typeface="Times New Roman" panose="02020603050405020304" pitchFamily="18" charset="0"/>
              </a:rPr>
              <a:t>REAL-TIME</a:t>
            </a:r>
            <a:endParaRPr lang="en-IN" i="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66425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600B3CF-0986-8E79-60E4-CBE6E3B12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FA1B9-C603-1002-C8EC-AEC7A41BC106}"/>
              </a:ext>
            </a:extLst>
          </p:cNvPr>
          <p:cNvSpPr>
            <a:spLocks noGrp="1"/>
          </p:cNvSpPr>
          <p:nvPr>
            <p:ph type="title"/>
          </p:nvPr>
        </p:nvSpPr>
        <p:spPr>
          <a:xfrm>
            <a:off x="677334" y="339213"/>
            <a:ext cx="8596668" cy="737419"/>
          </a:xfrm>
        </p:spPr>
        <p:txBody>
          <a:bodyPr>
            <a:normAutofit/>
          </a:bodyPr>
          <a:lstStyle/>
          <a:p>
            <a:r>
              <a:rPr lang="en-US" sz="4000" b="1" dirty="0">
                <a:solidFill>
                  <a:schemeClr val="accent2">
                    <a:lumMod val="50000"/>
                  </a:schemeClr>
                </a:solidFill>
                <a:latin typeface="Times New Roman" panose="02020603050405020304" pitchFamily="18" charset="0"/>
                <a:ea typeface="Georgia" pitchFamily="34" charset="-122"/>
                <a:cs typeface="Times New Roman" panose="02020603050405020304" pitchFamily="18" charset="0"/>
              </a:rPr>
              <a:t>Core Pipeline: Mind Dump</a:t>
            </a:r>
          </a:p>
        </p:txBody>
      </p:sp>
      <p:pic>
        <p:nvPicPr>
          <p:cNvPr id="21" name="Picture 20">
            <a:extLst>
              <a:ext uri="{FF2B5EF4-FFF2-40B4-BE49-F238E27FC236}">
                <a16:creationId xmlns:a16="http://schemas.microsoft.com/office/drawing/2014/main" id="{984991BD-F81D-4D73-D9EA-2B64DD7FACA0}"/>
              </a:ext>
            </a:extLst>
          </p:cNvPr>
          <p:cNvPicPr>
            <a:picLocks noChangeAspect="1"/>
          </p:cNvPicPr>
          <p:nvPr/>
        </p:nvPicPr>
        <p:blipFill>
          <a:blip r:embed="rId2"/>
          <a:stretch>
            <a:fillRect/>
          </a:stretch>
        </p:blipFill>
        <p:spPr>
          <a:xfrm>
            <a:off x="10606903" y="-12290"/>
            <a:ext cx="1585097" cy="579170"/>
          </a:xfrm>
          <a:prstGeom prst="rect">
            <a:avLst/>
          </a:prstGeom>
        </p:spPr>
      </p:pic>
      <p:sp>
        <p:nvSpPr>
          <p:cNvPr id="3" name="Shape 4">
            <a:extLst>
              <a:ext uri="{FF2B5EF4-FFF2-40B4-BE49-F238E27FC236}">
                <a16:creationId xmlns:a16="http://schemas.microsoft.com/office/drawing/2014/main" id="{03743624-54A6-9A85-3FFC-060F08BD5F59}"/>
              </a:ext>
            </a:extLst>
          </p:cNvPr>
          <p:cNvSpPr/>
          <p:nvPr/>
        </p:nvSpPr>
        <p:spPr>
          <a:xfrm>
            <a:off x="1054907" y="1602659"/>
            <a:ext cx="1015752" cy="993058"/>
          </a:xfrm>
          <a:prstGeom prst="ellipse">
            <a:avLst/>
          </a:prstGeom>
          <a:solidFill>
            <a:schemeClr val="accent2">
              <a:lumMod val="75000"/>
            </a:schemeClr>
          </a:solidFill>
          <a:ln w="12700">
            <a:solidFill>
              <a:schemeClr val="accent2">
                <a:lumMod val="75000"/>
              </a:schemeClr>
            </a:solidFill>
            <a:prstDash val="solid"/>
          </a:ln>
        </p:spPr>
        <p:txBody>
          <a:bodyPr/>
          <a:lstStyle/>
          <a:p>
            <a:pPr algn="ctr"/>
            <a:r>
              <a:rPr lang="en-US" sz="3200" dirty="0">
                <a:solidFill>
                  <a:schemeClr val="accent1">
                    <a:lumMod val="60000"/>
                    <a:lumOff val="40000"/>
                  </a:schemeClr>
                </a:solidFill>
                <a:latin typeface="Times New Roman" panose="02020603050405020304" pitchFamily="18" charset="0"/>
                <a:cs typeface="Times New Roman" panose="02020603050405020304" pitchFamily="18" charset="0"/>
              </a:rPr>
              <a:t>1</a:t>
            </a:r>
            <a:endParaRPr lang="en-IN" sz="3200"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4" name="Shape 7">
            <a:extLst>
              <a:ext uri="{FF2B5EF4-FFF2-40B4-BE49-F238E27FC236}">
                <a16:creationId xmlns:a16="http://schemas.microsoft.com/office/drawing/2014/main" id="{F4B8EAF5-A3CA-2A97-D146-1F45B1F71A75}"/>
              </a:ext>
            </a:extLst>
          </p:cNvPr>
          <p:cNvSpPr/>
          <p:nvPr/>
        </p:nvSpPr>
        <p:spPr>
          <a:xfrm>
            <a:off x="677334" y="2945548"/>
            <a:ext cx="1770898" cy="3071204"/>
          </a:xfrm>
          <a:prstGeom prst="rect">
            <a:avLst/>
          </a:prstGeom>
          <a:blipFill>
            <a:blip r:embed="rId3">
              <a:alphaModFix amt="51000"/>
            </a:blip>
            <a:tile tx="0" ty="0" sx="100000" sy="100000" flip="none" algn="tl"/>
          </a:blipFill>
          <a:ln w="19050">
            <a:solidFill>
              <a:schemeClr val="accent2">
                <a:lumMod val="75000"/>
              </a:schemeClr>
            </a:solidFill>
            <a:prstDash val="solid"/>
          </a:ln>
          <a:effectLst>
            <a:outerShdw blurRad="101600" dist="38100" dir="8100000" algn="bl" rotWithShape="0">
              <a:srgbClr val="064E3B">
                <a:alpha val="15000"/>
              </a:srgbClr>
            </a:outerShdw>
          </a:effectLst>
        </p:spPr>
        <p:txBody>
          <a:bodyPr/>
          <a:lstStyle/>
          <a:p>
            <a:r>
              <a:rPr lang="en-IN" sz="2400" b="1" i="1" dirty="0">
                <a:latin typeface="Times New Roman" panose="02020603050405020304" pitchFamily="18" charset="0"/>
                <a:cs typeface="Times New Roman" panose="02020603050405020304" pitchFamily="18" charset="0"/>
              </a:rPr>
              <a:t>Voice / Text</a:t>
            </a:r>
          </a:p>
          <a:p>
            <a:r>
              <a:rPr lang="en-IN" sz="2400" b="1" i="1" dirty="0">
                <a:latin typeface="Times New Roman" panose="02020603050405020304" pitchFamily="18" charset="0"/>
                <a:cs typeface="Times New Roman" panose="02020603050405020304" pitchFamily="18" charset="0"/>
              </a:rPr>
              <a:t>Input</a:t>
            </a:r>
          </a:p>
          <a:p>
            <a:endParaRPr lang="en-IN" dirty="0"/>
          </a:p>
          <a:p>
            <a:r>
              <a:rPr lang="en-US" dirty="0">
                <a:solidFill>
                  <a:schemeClr val="accent2">
                    <a:lumMod val="50000"/>
                  </a:schemeClr>
                </a:solidFill>
                <a:latin typeface="Times New Roman" panose="02020603050405020304" pitchFamily="18" charset="0"/>
                <a:ea typeface="Calibri" pitchFamily="34" charset="-122"/>
                <a:cs typeface="Times New Roman" panose="02020603050405020304" pitchFamily="18" charset="0"/>
              </a:rPr>
              <a:t>Patient speaks or types freely - no structure required</a:t>
            </a:r>
            <a:endParaRPr lang="en-US" dirty="0">
              <a:solidFill>
                <a:schemeClr val="accent2">
                  <a:lumMod val="50000"/>
                </a:schemeClr>
              </a:solidFill>
              <a:latin typeface="Times New Roman" panose="02020603050405020304" pitchFamily="18" charset="0"/>
              <a:cs typeface="Times New Roman" panose="02020603050405020304" pitchFamily="18" charset="0"/>
            </a:endParaRPr>
          </a:p>
          <a:p>
            <a:endParaRPr lang="en-IN" dirty="0"/>
          </a:p>
        </p:txBody>
      </p:sp>
      <p:sp>
        <p:nvSpPr>
          <p:cNvPr id="9" name="Shape 7">
            <a:extLst>
              <a:ext uri="{FF2B5EF4-FFF2-40B4-BE49-F238E27FC236}">
                <a16:creationId xmlns:a16="http://schemas.microsoft.com/office/drawing/2014/main" id="{5EBEC500-A0AA-A729-34CB-66AE9644202D}"/>
              </a:ext>
            </a:extLst>
          </p:cNvPr>
          <p:cNvSpPr/>
          <p:nvPr/>
        </p:nvSpPr>
        <p:spPr>
          <a:xfrm>
            <a:off x="2795499" y="2955971"/>
            <a:ext cx="1770898" cy="3071204"/>
          </a:xfrm>
          <a:prstGeom prst="rect">
            <a:avLst/>
          </a:prstGeom>
          <a:blipFill>
            <a:blip r:embed="rId3">
              <a:alphaModFix amt="51000"/>
            </a:blip>
            <a:tile tx="0" ty="0" sx="100000" sy="100000" flip="none" algn="tl"/>
          </a:blipFill>
          <a:ln w="19050">
            <a:solidFill>
              <a:schemeClr val="accent3">
                <a:lumMod val="75000"/>
              </a:schemeClr>
            </a:solidFill>
            <a:prstDash val="solid"/>
          </a:ln>
          <a:effectLst>
            <a:outerShdw blurRad="101600" dist="38100" dir="8100000" algn="bl" rotWithShape="0">
              <a:srgbClr val="064E3B">
                <a:alpha val="15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PII</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Masking</a:t>
            </a:r>
          </a:p>
          <a:p>
            <a:endParaRPr lang="en-IN" dirty="0"/>
          </a:p>
          <a:p>
            <a:r>
              <a:rPr lang="en-US" dirty="0" err="1">
                <a:solidFill>
                  <a:schemeClr val="accent2">
                    <a:lumMod val="50000"/>
                  </a:schemeClr>
                </a:solidFill>
                <a:latin typeface="Times New Roman" panose="02020603050405020304" pitchFamily="18" charset="0"/>
                <a:cs typeface="Times New Roman" panose="02020603050405020304" pitchFamily="18" charset="0"/>
              </a:rPr>
              <a:t>js</a:t>
            </a:r>
            <a:r>
              <a:rPr lang="en-US" dirty="0">
                <a:solidFill>
                  <a:schemeClr val="accent2">
                    <a:lumMod val="50000"/>
                  </a:schemeClr>
                </a:solidFill>
                <a:latin typeface="Times New Roman" panose="02020603050405020304" pitchFamily="18" charset="0"/>
                <a:cs typeface="Times New Roman" panose="02020603050405020304" pitchFamily="18" charset="0"/>
              </a:rPr>
              <a:t>-</a:t>
            </a:r>
            <a:r>
              <a:rPr lang="en-US" dirty="0" err="1">
                <a:solidFill>
                  <a:schemeClr val="accent2">
                    <a:lumMod val="50000"/>
                  </a:schemeClr>
                </a:solidFill>
                <a:latin typeface="Times New Roman" panose="02020603050405020304" pitchFamily="18" charset="0"/>
                <a:cs typeface="Times New Roman" panose="02020603050405020304" pitchFamily="18" charset="0"/>
              </a:rPr>
              <a:t>pii</a:t>
            </a:r>
            <a:r>
              <a:rPr lang="en-US" dirty="0">
                <a:solidFill>
                  <a:schemeClr val="accent2">
                    <a:lumMod val="50000"/>
                  </a:schemeClr>
                </a:solidFill>
                <a:latin typeface="Times New Roman" panose="02020603050405020304" pitchFamily="18" charset="0"/>
                <a:cs typeface="Times New Roman" panose="02020603050405020304" pitchFamily="18" charset="0"/>
              </a:rPr>
              <a:t>-mask redacts names &amp; addresses before leaving server</a:t>
            </a:r>
          </a:p>
          <a:p>
            <a:endParaRPr lang="en-IN" dirty="0"/>
          </a:p>
        </p:txBody>
      </p:sp>
      <p:sp>
        <p:nvSpPr>
          <p:cNvPr id="11" name="Shape 7">
            <a:extLst>
              <a:ext uri="{FF2B5EF4-FFF2-40B4-BE49-F238E27FC236}">
                <a16:creationId xmlns:a16="http://schemas.microsoft.com/office/drawing/2014/main" id="{A4E1C586-7424-FA7A-966D-D1EAB462F2A0}"/>
              </a:ext>
            </a:extLst>
          </p:cNvPr>
          <p:cNvSpPr/>
          <p:nvPr/>
        </p:nvSpPr>
        <p:spPr>
          <a:xfrm>
            <a:off x="4972806" y="2945548"/>
            <a:ext cx="1770898" cy="3071204"/>
          </a:xfrm>
          <a:prstGeom prst="rect">
            <a:avLst/>
          </a:prstGeom>
          <a:blipFill>
            <a:blip r:embed="rId3">
              <a:alphaModFix amt="51000"/>
            </a:blip>
            <a:tile tx="0" ty="0" sx="100000" sy="100000" flip="none" algn="tl"/>
          </a:blipFill>
          <a:ln w="19050">
            <a:solidFill>
              <a:schemeClr val="accent1">
                <a:lumMod val="50000"/>
              </a:schemeClr>
            </a:solidFill>
            <a:prstDash val="solid"/>
          </a:ln>
          <a:effectLst>
            <a:outerShdw blurRad="101600" dist="38100" dir="8100000" algn="bl" rotWithShape="0">
              <a:srgbClr val="064E3B">
                <a:alpha val="15000"/>
              </a:srgbClr>
            </a:outerShdw>
          </a:effectLst>
        </p:spPr>
        <p:txBody>
          <a:bodyPr/>
          <a:lstStyle/>
          <a:p>
            <a:r>
              <a:rPr lang="en-IN" sz="2400" b="1" i="1" dirty="0">
                <a:latin typeface="Times New Roman" panose="02020603050405020304" pitchFamily="18" charset="0"/>
                <a:cs typeface="Times New Roman" panose="02020603050405020304" pitchFamily="18" charset="0"/>
              </a:rPr>
              <a:t>Gemini AI</a:t>
            </a:r>
          </a:p>
          <a:p>
            <a:r>
              <a:rPr lang="en-IN" sz="2400" b="1" i="1" dirty="0">
                <a:latin typeface="Times New Roman" panose="02020603050405020304" pitchFamily="18" charset="0"/>
                <a:cs typeface="Times New Roman" panose="02020603050405020304" pitchFamily="18" charset="0"/>
              </a:rPr>
              <a:t>Analysis</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Calibri" pitchFamily="34" charset="-122"/>
              <a:cs typeface="Times New Roman" panose="02020603050405020304" pitchFamily="18"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Calibri" pitchFamily="34" charset="-122"/>
                <a:cs typeface="Times New Roman" panose="02020603050405020304" pitchFamily="18" charset="0"/>
              </a:rPr>
              <a:t>5 pillars + severity 1–10</a:t>
            </a:r>
            <a:endParaRPr kumimoji="0" lang="en-US" b="0"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cs typeface="Times New Roman" panose="02020603050405020304" pitchFamily="18"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Calibri" pitchFamily="34" charset="-122"/>
                <a:cs typeface="Times New Roman" panose="02020603050405020304" pitchFamily="18" charset="0"/>
              </a:rPr>
              <a:t>(Physical, Mood, Cognitive, Sleep, Social)</a:t>
            </a:r>
            <a:endParaRPr kumimoji="0" lang="en-US" b="0"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cs typeface="Times New Roman" panose="02020603050405020304" pitchFamily="18" charset="0"/>
            </a:endParaRPr>
          </a:p>
          <a:p>
            <a:endParaRPr lang="en-IN" sz="2400" b="1" i="1" dirty="0">
              <a:latin typeface="Times New Roman" panose="02020603050405020304" pitchFamily="18" charset="0"/>
              <a:cs typeface="Times New Roman" panose="02020603050405020304" pitchFamily="18" charset="0"/>
            </a:endParaRPr>
          </a:p>
          <a:p>
            <a:endParaRPr lang="en-IN" dirty="0"/>
          </a:p>
        </p:txBody>
      </p:sp>
      <p:sp>
        <p:nvSpPr>
          <p:cNvPr id="12" name="Shape 7">
            <a:extLst>
              <a:ext uri="{FF2B5EF4-FFF2-40B4-BE49-F238E27FC236}">
                <a16:creationId xmlns:a16="http://schemas.microsoft.com/office/drawing/2014/main" id="{1212BDEE-B14F-7C5A-C9B7-DC4340DBCC10}"/>
              </a:ext>
            </a:extLst>
          </p:cNvPr>
          <p:cNvSpPr/>
          <p:nvPr/>
        </p:nvSpPr>
        <p:spPr>
          <a:xfrm>
            <a:off x="7220881" y="2945548"/>
            <a:ext cx="1770897" cy="3071204"/>
          </a:xfrm>
          <a:prstGeom prst="rect">
            <a:avLst/>
          </a:prstGeom>
          <a:blipFill>
            <a:blip r:embed="rId3">
              <a:alphaModFix amt="51000"/>
            </a:blip>
            <a:tile tx="0" ty="0" sx="100000" sy="100000" flip="none" algn="tl"/>
          </a:blipFill>
          <a:ln w="19050">
            <a:solidFill>
              <a:schemeClr val="accent6">
                <a:lumMod val="75000"/>
              </a:schemeClr>
            </a:solidFill>
            <a:prstDash val="solid"/>
          </a:ln>
          <a:effectLst>
            <a:outerShdw blurRad="101600" dist="38100" dir="8100000" algn="bl" rotWithShape="0">
              <a:srgbClr val="064E3B">
                <a:alpha val="15000"/>
              </a:srgbClr>
            </a:outerShdw>
          </a:effec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Prisma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ORM</a:t>
            </a:r>
          </a:p>
          <a:p>
            <a:endParaRPr lang="en-IN" dirty="0"/>
          </a:p>
          <a:p>
            <a:r>
              <a:rPr lang="en-US" dirty="0">
                <a:solidFill>
                  <a:schemeClr val="accent2">
                    <a:lumMod val="50000"/>
                  </a:schemeClr>
                </a:solidFill>
                <a:latin typeface="Times New Roman" panose="02020603050405020304" pitchFamily="18" charset="0"/>
                <a:cs typeface="Times New Roman" panose="02020603050405020304" pitchFamily="18" charset="0"/>
              </a:rPr>
              <a:t>Atomic Postgres transaction - </a:t>
            </a:r>
            <a:r>
              <a:rPr lang="en-US" dirty="0" err="1">
                <a:solidFill>
                  <a:schemeClr val="accent2">
                    <a:lumMod val="50000"/>
                  </a:schemeClr>
                </a:solidFill>
                <a:latin typeface="Times New Roman" panose="02020603050405020304" pitchFamily="18" charset="0"/>
                <a:cs typeface="Times New Roman" panose="02020603050405020304" pitchFamily="18" charset="0"/>
              </a:rPr>
              <a:t>SymptomLog</a:t>
            </a:r>
            <a:r>
              <a:rPr lang="en-US" dirty="0">
                <a:solidFill>
                  <a:schemeClr val="accent2">
                    <a:lumMod val="50000"/>
                  </a:schemeClr>
                </a:solidFill>
                <a:latin typeface="Times New Roman" panose="02020603050405020304" pitchFamily="18" charset="0"/>
                <a:cs typeface="Times New Roman" panose="02020603050405020304" pitchFamily="18" charset="0"/>
              </a:rPr>
              <a:t> with pillar scores</a:t>
            </a:r>
          </a:p>
          <a:p>
            <a:endParaRPr lang="en-IN" dirty="0"/>
          </a:p>
        </p:txBody>
      </p:sp>
      <p:sp>
        <p:nvSpPr>
          <p:cNvPr id="13" name="Shape 7">
            <a:extLst>
              <a:ext uri="{FF2B5EF4-FFF2-40B4-BE49-F238E27FC236}">
                <a16:creationId xmlns:a16="http://schemas.microsoft.com/office/drawing/2014/main" id="{E433907B-5551-296C-CE4E-FEBC7CA39D61}"/>
              </a:ext>
            </a:extLst>
          </p:cNvPr>
          <p:cNvSpPr/>
          <p:nvPr/>
        </p:nvSpPr>
        <p:spPr>
          <a:xfrm>
            <a:off x="9396501" y="2945548"/>
            <a:ext cx="1770896" cy="3071204"/>
          </a:xfrm>
          <a:prstGeom prst="rect">
            <a:avLst/>
          </a:prstGeom>
          <a:blipFill dpi="0" rotWithShape="1">
            <a:blip r:embed="rId3">
              <a:alphaModFix amt="80000"/>
            </a:blip>
            <a:srcRect/>
            <a:tile tx="0" ty="0" sx="100000" sy="100000" flip="none" algn="tl"/>
          </a:blipFill>
          <a:ln w="19050">
            <a:solidFill>
              <a:schemeClr val="accent5"/>
            </a:solidFill>
            <a:prstDash val="solid"/>
          </a:ln>
          <a:effectLst>
            <a:outerShdw blurRad="101600" dist="38100" dir="8100000" algn="bl" rotWithShape="0">
              <a:srgbClr val="064E3B">
                <a:alpha val="15000"/>
              </a:srgbClr>
            </a:outerShdw>
          </a:effectLst>
        </p:spPr>
        <p:txBody>
          <a:bodyPr/>
          <a:lstStyle/>
          <a:p>
            <a:r>
              <a:rPr lang="en-IN" sz="2400" b="1" i="1" dirty="0">
                <a:latin typeface="Times New Roman" panose="02020603050405020304" pitchFamily="18" charset="0"/>
                <a:cs typeface="Times New Roman" panose="02020603050405020304" pitchFamily="18" charset="0"/>
              </a:rPr>
              <a:t>Socket.io</a:t>
            </a:r>
          </a:p>
          <a:p>
            <a:r>
              <a:rPr lang="en-IN" sz="2400" b="1" i="1" dirty="0">
                <a:latin typeface="Times New Roman" panose="02020603050405020304" pitchFamily="18" charset="0"/>
                <a:cs typeface="Times New Roman" panose="02020603050405020304" pitchFamily="18" charset="0"/>
              </a:rPr>
              <a:t>Broadcast</a:t>
            </a:r>
          </a:p>
          <a:p>
            <a:endParaRPr lang="en-IN" dirty="0"/>
          </a:p>
          <a:p>
            <a:r>
              <a:rPr lang="en-US" dirty="0">
                <a:solidFill>
                  <a:schemeClr val="accent2">
                    <a:lumMod val="50000"/>
                  </a:schemeClr>
                </a:solidFill>
                <a:latin typeface="Times New Roman" panose="02020603050405020304" pitchFamily="18" charset="0"/>
                <a:cs typeface="Times New Roman" panose="02020603050405020304" pitchFamily="18" charset="0"/>
              </a:rPr>
              <a:t>Live push to authorized carers private rooms - zero polling</a:t>
            </a:r>
          </a:p>
          <a:p>
            <a:endParaRPr lang="en-IN" dirty="0"/>
          </a:p>
        </p:txBody>
      </p:sp>
      <p:sp>
        <p:nvSpPr>
          <p:cNvPr id="14" name="Shape 4">
            <a:extLst>
              <a:ext uri="{FF2B5EF4-FFF2-40B4-BE49-F238E27FC236}">
                <a16:creationId xmlns:a16="http://schemas.microsoft.com/office/drawing/2014/main" id="{6AE5FA8D-B2E7-6C4A-3CC7-E6E7B3FDD4BB}"/>
              </a:ext>
            </a:extLst>
          </p:cNvPr>
          <p:cNvSpPr/>
          <p:nvPr/>
        </p:nvSpPr>
        <p:spPr>
          <a:xfrm>
            <a:off x="3169160" y="1602659"/>
            <a:ext cx="1015752" cy="993058"/>
          </a:xfrm>
          <a:prstGeom prst="ellipse">
            <a:avLst/>
          </a:prstGeom>
          <a:solidFill>
            <a:schemeClr val="accent3">
              <a:lumMod val="75000"/>
            </a:schemeClr>
          </a:solidFill>
          <a:ln w="12700">
            <a:solidFill>
              <a:srgbClr val="0D9488"/>
            </a:solidFill>
            <a:prstDash val="solid"/>
          </a:ln>
        </p:spPr>
        <p:txBody>
          <a:bodyPr/>
          <a:lstStyle/>
          <a:p>
            <a:pPr algn="ctr"/>
            <a:r>
              <a:rPr kumimoji="0" lang="en-US" sz="3200" b="0" i="0" u="none" strike="noStrike" kern="1200" cap="none" spc="0" normalizeH="0" baseline="0" noProof="0" dirty="0">
                <a:ln>
                  <a:noFill/>
                </a:ln>
                <a:solidFill>
                  <a:srgbClr val="5FCBEF">
                    <a:lumMod val="60000"/>
                    <a:lumOff val="40000"/>
                  </a:srgbClr>
                </a:solidFill>
                <a:effectLst/>
                <a:uLnTx/>
                <a:uFillTx/>
                <a:latin typeface="Times New Roman" panose="02020603050405020304" pitchFamily="18" charset="0"/>
                <a:ea typeface="+mn-ea"/>
                <a:cs typeface="Times New Roman" panose="02020603050405020304" pitchFamily="18" charset="0"/>
              </a:rPr>
              <a:t>2</a:t>
            </a:r>
            <a:endParaRPr lang="en-IN" dirty="0"/>
          </a:p>
        </p:txBody>
      </p:sp>
      <p:sp>
        <p:nvSpPr>
          <p:cNvPr id="15" name="Shape 4">
            <a:extLst>
              <a:ext uri="{FF2B5EF4-FFF2-40B4-BE49-F238E27FC236}">
                <a16:creationId xmlns:a16="http://schemas.microsoft.com/office/drawing/2014/main" id="{541E2EC1-C8FA-1320-EEE0-7AF22BF7D86B}"/>
              </a:ext>
            </a:extLst>
          </p:cNvPr>
          <p:cNvSpPr/>
          <p:nvPr/>
        </p:nvSpPr>
        <p:spPr>
          <a:xfrm>
            <a:off x="5381436" y="1602659"/>
            <a:ext cx="1015752" cy="993058"/>
          </a:xfrm>
          <a:prstGeom prst="ellipse">
            <a:avLst/>
          </a:prstGeom>
          <a:solidFill>
            <a:schemeClr val="accent1">
              <a:lumMod val="50000"/>
            </a:schemeClr>
          </a:solidFill>
          <a:ln w="12700">
            <a:solidFill>
              <a:srgbClr val="0D9488"/>
            </a:solidFill>
            <a:prstDash val="solid"/>
          </a:ln>
        </p:spPr>
        <p:txBody>
          <a:bodyPr/>
          <a:lstStyle/>
          <a:p>
            <a:pPr algn="ctr"/>
            <a:r>
              <a:rPr kumimoji="0" lang="en-US" sz="3200" b="0" i="0" u="none" strike="noStrike" kern="1200" cap="none" spc="0" normalizeH="0" baseline="0" noProof="0" dirty="0">
                <a:ln>
                  <a:noFill/>
                </a:ln>
                <a:solidFill>
                  <a:srgbClr val="5FCBEF">
                    <a:lumMod val="60000"/>
                    <a:lumOff val="40000"/>
                  </a:srgbClr>
                </a:solidFill>
                <a:effectLst/>
                <a:uLnTx/>
                <a:uFillTx/>
                <a:latin typeface="Times New Roman" panose="02020603050405020304" pitchFamily="18" charset="0"/>
                <a:ea typeface="+mn-ea"/>
                <a:cs typeface="Times New Roman" panose="02020603050405020304" pitchFamily="18" charset="0"/>
              </a:rPr>
              <a:t>3</a:t>
            </a:r>
            <a:endParaRPr lang="en-IN" dirty="0"/>
          </a:p>
        </p:txBody>
      </p:sp>
      <p:sp>
        <p:nvSpPr>
          <p:cNvPr id="18" name="Shape 4">
            <a:extLst>
              <a:ext uri="{FF2B5EF4-FFF2-40B4-BE49-F238E27FC236}">
                <a16:creationId xmlns:a16="http://schemas.microsoft.com/office/drawing/2014/main" id="{D1A35FE5-4663-31F5-511A-A0257F5B2450}"/>
              </a:ext>
            </a:extLst>
          </p:cNvPr>
          <p:cNvSpPr/>
          <p:nvPr/>
        </p:nvSpPr>
        <p:spPr>
          <a:xfrm>
            <a:off x="7598453" y="1602659"/>
            <a:ext cx="1015752" cy="993058"/>
          </a:xfrm>
          <a:prstGeom prst="ellipse">
            <a:avLst/>
          </a:prstGeom>
          <a:solidFill>
            <a:schemeClr val="accent6">
              <a:lumMod val="50000"/>
            </a:schemeClr>
          </a:solidFill>
          <a:ln w="12700">
            <a:solidFill>
              <a:srgbClr val="0D9488"/>
            </a:solidFill>
            <a:prstDash val="solid"/>
          </a:ln>
        </p:spPr>
        <p:txBody>
          <a:bodyPr/>
          <a:lstStyle/>
          <a:p>
            <a:pPr algn="ctr"/>
            <a:r>
              <a:rPr kumimoji="0" lang="en-US" sz="3200" b="0" i="0" u="none" strike="noStrike" kern="1200" cap="none" spc="0" normalizeH="0" baseline="0" noProof="0" dirty="0">
                <a:ln>
                  <a:noFill/>
                </a:ln>
                <a:solidFill>
                  <a:srgbClr val="5FCBEF">
                    <a:lumMod val="60000"/>
                    <a:lumOff val="40000"/>
                  </a:srgbClr>
                </a:solidFill>
                <a:effectLst/>
                <a:uLnTx/>
                <a:uFillTx/>
                <a:latin typeface="Times New Roman" panose="02020603050405020304" pitchFamily="18" charset="0"/>
                <a:ea typeface="+mn-ea"/>
                <a:cs typeface="Times New Roman" panose="02020603050405020304" pitchFamily="18" charset="0"/>
              </a:rPr>
              <a:t>4</a:t>
            </a:r>
            <a:endParaRPr lang="en-IN" dirty="0"/>
          </a:p>
        </p:txBody>
      </p:sp>
      <p:sp>
        <p:nvSpPr>
          <p:cNvPr id="20" name="Shape 4">
            <a:extLst>
              <a:ext uri="{FF2B5EF4-FFF2-40B4-BE49-F238E27FC236}">
                <a16:creationId xmlns:a16="http://schemas.microsoft.com/office/drawing/2014/main" id="{03317E87-2D26-08A1-A7BC-FF9D43A9B8D8}"/>
              </a:ext>
            </a:extLst>
          </p:cNvPr>
          <p:cNvSpPr/>
          <p:nvPr/>
        </p:nvSpPr>
        <p:spPr>
          <a:xfrm>
            <a:off x="9783500" y="1602659"/>
            <a:ext cx="1015752" cy="993058"/>
          </a:xfrm>
          <a:prstGeom prst="ellipse">
            <a:avLst/>
          </a:prstGeom>
          <a:solidFill>
            <a:schemeClr val="accent5"/>
          </a:solidFill>
          <a:ln w="12700">
            <a:solidFill>
              <a:srgbClr val="0D9488"/>
            </a:solidFill>
            <a:prstDash val="solid"/>
          </a:ln>
        </p:spPr>
        <p:txBody>
          <a:bodyPr/>
          <a:lstStyle/>
          <a:p>
            <a:pPr algn="ctr"/>
            <a:r>
              <a:rPr lang="en-US" sz="3200" dirty="0">
                <a:solidFill>
                  <a:srgbClr val="5FCBEF">
                    <a:lumMod val="60000"/>
                    <a:lumOff val="40000"/>
                  </a:srgbClr>
                </a:solidFill>
                <a:latin typeface="Times New Roman" panose="02020603050405020304" pitchFamily="18" charset="0"/>
                <a:cs typeface="Times New Roman" panose="02020603050405020304" pitchFamily="18" charset="0"/>
              </a:rPr>
              <a:t>5</a:t>
            </a:r>
            <a:endParaRPr lang="en-IN" dirty="0"/>
          </a:p>
        </p:txBody>
      </p:sp>
      <p:sp>
        <p:nvSpPr>
          <p:cNvPr id="22" name="Shape 6">
            <a:extLst>
              <a:ext uri="{FF2B5EF4-FFF2-40B4-BE49-F238E27FC236}">
                <a16:creationId xmlns:a16="http://schemas.microsoft.com/office/drawing/2014/main" id="{7EB0CBEE-4E87-C7A8-5425-755DB5DD66F1}"/>
              </a:ext>
            </a:extLst>
          </p:cNvPr>
          <p:cNvSpPr/>
          <p:nvPr/>
        </p:nvSpPr>
        <p:spPr>
          <a:xfrm>
            <a:off x="2185414" y="2099188"/>
            <a:ext cx="872417" cy="0"/>
          </a:xfrm>
          <a:prstGeom prst="line">
            <a:avLst/>
          </a:prstGeom>
          <a:noFill/>
          <a:ln w="38100">
            <a:solidFill>
              <a:schemeClr val="accent2">
                <a:lumMod val="75000"/>
              </a:schemeClr>
            </a:solidFill>
            <a:prstDash val="solid"/>
            <a:tailEnd type="arrow"/>
          </a:ln>
        </p:spPr>
        <p:txBody>
          <a:bodyPr/>
          <a:lstStyle/>
          <a:p>
            <a:endParaRPr lang="en-IN"/>
          </a:p>
        </p:txBody>
      </p:sp>
      <p:sp>
        <p:nvSpPr>
          <p:cNvPr id="23" name="Shape 6">
            <a:extLst>
              <a:ext uri="{FF2B5EF4-FFF2-40B4-BE49-F238E27FC236}">
                <a16:creationId xmlns:a16="http://schemas.microsoft.com/office/drawing/2014/main" id="{1B526E8E-30F8-3C8C-4D41-8DE09785699B}"/>
              </a:ext>
            </a:extLst>
          </p:cNvPr>
          <p:cNvSpPr/>
          <p:nvPr/>
        </p:nvSpPr>
        <p:spPr>
          <a:xfrm>
            <a:off x="4304266" y="2099188"/>
            <a:ext cx="872417" cy="0"/>
          </a:xfrm>
          <a:prstGeom prst="line">
            <a:avLst/>
          </a:prstGeom>
          <a:noFill/>
          <a:ln w="38100">
            <a:solidFill>
              <a:schemeClr val="accent2">
                <a:lumMod val="75000"/>
              </a:schemeClr>
            </a:solidFill>
            <a:prstDash val="solid"/>
            <a:tailEnd type="arrow"/>
          </a:ln>
        </p:spPr>
        <p:txBody>
          <a:bodyPr/>
          <a:lstStyle/>
          <a:p>
            <a:endParaRPr lang="en-IN"/>
          </a:p>
        </p:txBody>
      </p:sp>
      <p:sp>
        <p:nvSpPr>
          <p:cNvPr id="24" name="Shape 6">
            <a:extLst>
              <a:ext uri="{FF2B5EF4-FFF2-40B4-BE49-F238E27FC236}">
                <a16:creationId xmlns:a16="http://schemas.microsoft.com/office/drawing/2014/main" id="{FDDCA921-498A-E166-2CDD-2E3D3AE4DBD7}"/>
              </a:ext>
            </a:extLst>
          </p:cNvPr>
          <p:cNvSpPr/>
          <p:nvPr/>
        </p:nvSpPr>
        <p:spPr>
          <a:xfrm>
            <a:off x="6526356" y="2090143"/>
            <a:ext cx="872417" cy="0"/>
          </a:xfrm>
          <a:prstGeom prst="line">
            <a:avLst/>
          </a:prstGeom>
          <a:noFill/>
          <a:ln w="38100">
            <a:solidFill>
              <a:schemeClr val="accent2">
                <a:lumMod val="75000"/>
              </a:schemeClr>
            </a:solidFill>
            <a:prstDash val="solid"/>
            <a:tailEnd type="arrow"/>
          </a:ln>
        </p:spPr>
        <p:txBody>
          <a:bodyPr/>
          <a:lstStyle/>
          <a:p>
            <a:endParaRPr lang="en-IN"/>
          </a:p>
        </p:txBody>
      </p:sp>
      <p:sp>
        <p:nvSpPr>
          <p:cNvPr id="25" name="Shape 6">
            <a:extLst>
              <a:ext uri="{FF2B5EF4-FFF2-40B4-BE49-F238E27FC236}">
                <a16:creationId xmlns:a16="http://schemas.microsoft.com/office/drawing/2014/main" id="{E2E210A3-21A9-5D01-1BD3-688817DE189D}"/>
              </a:ext>
            </a:extLst>
          </p:cNvPr>
          <p:cNvSpPr/>
          <p:nvPr/>
        </p:nvSpPr>
        <p:spPr>
          <a:xfrm>
            <a:off x="8762644" y="2099188"/>
            <a:ext cx="872417" cy="0"/>
          </a:xfrm>
          <a:prstGeom prst="line">
            <a:avLst/>
          </a:prstGeom>
          <a:noFill/>
          <a:ln w="38100">
            <a:solidFill>
              <a:schemeClr val="accent2">
                <a:lumMod val="75000"/>
              </a:schemeClr>
            </a:solidFill>
            <a:prstDash val="solid"/>
            <a:tailEnd type="arrow"/>
          </a:ln>
        </p:spPr>
        <p:txBody>
          <a:bodyPr/>
          <a:lstStyle/>
          <a:p>
            <a:endParaRPr lang="en-IN"/>
          </a:p>
        </p:txBody>
      </p:sp>
    </p:spTree>
    <p:extLst>
      <p:ext uri="{BB962C8B-B14F-4D97-AF65-F5344CB8AC3E}">
        <p14:creationId xmlns:p14="http://schemas.microsoft.com/office/powerpoint/2010/main" val="7699790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900" decel="100000" fill="hold"/>
                                        <p:tgtEl>
                                          <p:spTgt spid="4"/>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anim calcmode="lin" valueType="num">
                                      <p:cBhvr>
                                        <p:cTn id="16" dur="1000" fill="hold"/>
                                        <p:tgtEl>
                                          <p:spTgt spid="9"/>
                                        </p:tgtEl>
                                        <p:attrNameLst>
                                          <p:attrName>ppt_x</p:attrName>
                                        </p:attrNameLst>
                                      </p:cBhvr>
                                      <p:tavLst>
                                        <p:tav tm="0">
                                          <p:val>
                                            <p:strVal val="#ppt_x"/>
                                          </p:val>
                                        </p:tav>
                                        <p:tav tm="100000">
                                          <p:val>
                                            <p:strVal val="#ppt_x"/>
                                          </p:val>
                                        </p:tav>
                                      </p:tavLst>
                                    </p:anim>
                                    <p:anim calcmode="lin" valueType="num">
                                      <p:cBhvr>
                                        <p:cTn id="17" dur="900" decel="100000" fill="hold"/>
                                        <p:tgtEl>
                                          <p:spTgt spid="9"/>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900" decel="100000" fill="hold"/>
                                        <p:tgtEl>
                                          <p:spTgt spid="11"/>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900" decel="100000" fill="hold"/>
                                        <p:tgtEl>
                                          <p:spTgt spid="12"/>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900" decel="100000" fill="hold"/>
                                        <p:tgtEl>
                                          <p:spTgt spid="13"/>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55278">
              <a:schemeClr val="accent2">
                <a:lumMod val="60000"/>
                <a:lumOff val="4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9" name="Text Placeholder 8">
            <a:extLst>
              <a:ext uri="{FF2B5EF4-FFF2-40B4-BE49-F238E27FC236}">
                <a16:creationId xmlns:a16="http://schemas.microsoft.com/office/drawing/2014/main" id="{98DAC533-5905-58FA-30A2-D18738328098}"/>
              </a:ext>
            </a:extLst>
          </p:cNvPr>
          <p:cNvSpPr>
            <a:spLocks noGrp="1"/>
          </p:cNvSpPr>
          <p:nvPr>
            <p:ph type="body" sz="quarter" idx="13"/>
          </p:nvPr>
        </p:nvSpPr>
        <p:spPr>
          <a:xfrm>
            <a:off x="549515" y="413515"/>
            <a:ext cx="8810795" cy="628704"/>
          </a:xfrm>
        </p:spPr>
        <p:txBody>
          <a:bodyPr/>
          <a:lstStyle/>
          <a:p>
            <a:r>
              <a:rPr lang="en-US" sz="4000" b="1" dirty="0">
                <a:solidFill>
                  <a:schemeClr val="accent2">
                    <a:lumMod val="50000"/>
                  </a:schemeClr>
                </a:solidFill>
                <a:latin typeface="Times New Roman" panose="02020603050405020304" pitchFamily="18" charset="0"/>
                <a:cs typeface="Times New Roman" panose="02020603050405020304" pitchFamily="18" charset="0"/>
              </a:rPr>
              <a:t>Role-Based Access Control</a:t>
            </a:r>
            <a:endParaRPr lang="en-IN" sz="4000" b="1" dirty="0">
              <a:solidFill>
                <a:schemeClr val="accent2">
                  <a:lumMod val="50000"/>
                </a:schemeClr>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0F5FE07-C904-B478-9834-BC87AAC2062A}"/>
              </a:ext>
            </a:extLst>
          </p:cNvPr>
          <p:cNvPicPr>
            <a:picLocks noChangeAspect="1"/>
          </p:cNvPicPr>
          <p:nvPr/>
        </p:nvPicPr>
        <p:blipFill>
          <a:blip r:embed="rId2"/>
          <a:stretch>
            <a:fillRect/>
          </a:stretch>
        </p:blipFill>
        <p:spPr>
          <a:xfrm>
            <a:off x="10606903" y="-2483"/>
            <a:ext cx="1585097" cy="579170"/>
          </a:xfrm>
          <a:prstGeom prst="rect">
            <a:avLst/>
          </a:prstGeom>
        </p:spPr>
      </p:pic>
      <p:graphicFrame>
        <p:nvGraphicFramePr>
          <p:cNvPr id="13" name="Table 0">
            <a:extLst>
              <a:ext uri="{FF2B5EF4-FFF2-40B4-BE49-F238E27FC236}">
                <a16:creationId xmlns:a16="http://schemas.microsoft.com/office/drawing/2014/main" id="{2DB5D52B-11EC-3AFF-F0A9-24D5FD855D81}"/>
              </a:ext>
            </a:extLst>
          </p:cNvPr>
          <p:cNvGraphicFramePr>
            <a:graphicFrameLocks noGrp="1"/>
          </p:cNvGraphicFramePr>
          <p:nvPr>
            <p:extLst>
              <p:ext uri="{D42A27DB-BD31-4B8C-83A1-F6EECF244321}">
                <p14:modId xmlns:p14="http://schemas.microsoft.com/office/powerpoint/2010/main" val="1074278058"/>
              </p:ext>
            </p:extLst>
          </p:nvPr>
        </p:nvGraphicFramePr>
        <p:xfrm>
          <a:off x="320040" y="1115567"/>
          <a:ext cx="11478670" cy="5491711"/>
        </p:xfrm>
        <a:graphic>
          <a:graphicData uri="http://schemas.openxmlformats.org/drawingml/2006/table">
            <a:tbl>
              <a:tblPr/>
              <a:tblGrid>
                <a:gridCol w="2459715">
                  <a:extLst>
                    <a:ext uri="{9D8B030D-6E8A-4147-A177-3AD203B41FA5}">
                      <a16:colId xmlns:a16="http://schemas.microsoft.com/office/drawing/2014/main" val="20000"/>
                    </a:ext>
                  </a:extLst>
                </a:gridCol>
                <a:gridCol w="3216550">
                  <a:extLst>
                    <a:ext uri="{9D8B030D-6E8A-4147-A177-3AD203B41FA5}">
                      <a16:colId xmlns:a16="http://schemas.microsoft.com/office/drawing/2014/main" val="20001"/>
                    </a:ext>
                  </a:extLst>
                </a:gridCol>
                <a:gridCol w="3153481">
                  <a:extLst>
                    <a:ext uri="{9D8B030D-6E8A-4147-A177-3AD203B41FA5}">
                      <a16:colId xmlns:a16="http://schemas.microsoft.com/office/drawing/2014/main" val="20002"/>
                    </a:ext>
                  </a:extLst>
                </a:gridCol>
                <a:gridCol w="2648924">
                  <a:extLst>
                    <a:ext uri="{9D8B030D-6E8A-4147-A177-3AD203B41FA5}">
                      <a16:colId xmlns:a16="http://schemas.microsoft.com/office/drawing/2014/main" val="20003"/>
                    </a:ext>
                  </a:extLst>
                </a:gridCol>
              </a:tblGrid>
              <a:tr h="471944">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chemeClr val="accent1">
                        <a:lumMod val="50000"/>
                      </a:schemeClr>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chemeClr val="accent1">
                        <a:lumMod val="50000"/>
                      </a:schemeClr>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Patient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chemeClr val="accent1">
                        <a:lumMod val="50000"/>
                      </a:schemeClr>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Carer</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72053">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Mind Dump</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AI-powered voice/text symptom logging</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Record &amp; View</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C81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1"/>
                  </a:ext>
                </a:extLst>
              </a:tr>
              <a:tr h="471944">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Health Dashboard</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Real-time metrics and trend overview</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059669"/>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854F0B"/>
                          </a:solidFill>
                          <a:latin typeface="Calibri" pitchFamily="34" charset="0"/>
                          <a:ea typeface="Calibri" pitchFamily="34" charset="-122"/>
                          <a:cs typeface="Calibri" pitchFamily="34" charset="-120"/>
                        </a:rPr>
                        <a:t>Dependent on patient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2"/>
                  </a:ext>
                </a:extLst>
              </a:tr>
              <a:tr h="471944">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Symptom Logs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Historical list of all processed logs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View &amp; Edit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View &amp; Annotate</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3"/>
                  </a:ext>
                </a:extLst>
              </a:tr>
              <a:tr h="572053">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Care Circle</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Support network and contact management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Manage Circle</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View Circle</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4"/>
                  </a:ext>
                </a:extLst>
              </a:tr>
              <a:tr h="471944">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AI Insights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Cross-pillar health pattern analysis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Clinical View</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Clinical View</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5"/>
                  </a:ext>
                </a:extLst>
              </a:tr>
              <a:tr h="572053">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Doc-Form</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MDT-standard clinical report generation</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Full Access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059669"/>
                          </a:solidFill>
                          <a:latin typeface="Calibri" pitchFamily="34" charset="0"/>
                          <a:ea typeface="Calibri" pitchFamily="34" charset="-122"/>
                          <a:cs typeface="Calibri" pitchFamily="34" charset="-120"/>
                        </a:rPr>
                        <a:t>Full Access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6"/>
                  </a:ext>
                </a:extLst>
              </a:tr>
              <a:tr h="471944">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Direct Messaging</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1-to-1 chat with primary contacts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Full Access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854F0B"/>
                          </a:solidFill>
                          <a:latin typeface="Calibri" pitchFamily="34" charset="0"/>
                          <a:ea typeface="Calibri" pitchFamily="34" charset="-122"/>
                          <a:cs typeface="Calibri" pitchFamily="34" charset="-120"/>
                        </a:rPr>
                        <a:t>Limited Access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7"/>
                  </a:ext>
                </a:extLst>
              </a:tr>
              <a:tr h="471944">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Threaded Chat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Contextual discussion on specific logs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Can create thread</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854F0B"/>
                          </a:solidFill>
                          <a:latin typeface="Calibri" pitchFamily="34" charset="0"/>
                          <a:ea typeface="Calibri" pitchFamily="34" charset="-122"/>
                          <a:cs typeface="Calibri" pitchFamily="34" charset="-120"/>
                        </a:rPr>
                        <a:t>Part of thread only</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8"/>
                  </a:ext>
                </a:extLst>
              </a:tr>
              <a:tr h="471944">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PDF Export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Exporting structured clinical reports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Full Access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059669"/>
                          </a:solidFill>
                          <a:latin typeface="Calibri" pitchFamily="34" charset="0"/>
                          <a:ea typeface="Calibri" pitchFamily="34" charset="-122"/>
                          <a:cs typeface="Calibri" pitchFamily="34" charset="-120"/>
                        </a:rPr>
                        <a:t>Full Access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09"/>
                  </a:ext>
                </a:extLst>
              </a:tr>
              <a:tr h="471944">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Hotline Access</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Quick-link to emergency support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059669"/>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tc>
                  <a:txBody>
                    <a:bodyPr/>
                    <a:lstStyle/>
                    <a:p>
                      <a:pPr marL="0" indent="0" algn="ctr">
                        <a:buNone/>
                      </a:pPr>
                      <a:r>
                        <a:rPr lang="en-US" sz="1100" dirty="0">
                          <a:solidFill>
                            <a:srgbClr val="C81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BBF7D0"/>
                      </a:solidFill>
                      <a:prstDash val="solid"/>
                      <a:round/>
                      <a:headEnd type="none" w="med" len="med"/>
                      <a:tailEnd type="none" w="med" len="med"/>
                    </a:lnL>
                    <a:lnR w="6350" cap="flat" cmpd="sng" algn="ctr">
                      <a:solidFill>
                        <a:srgbClr val="BBF7D0"/>
                      </a:solidFill>
                      <a:prstDash val="solid"/>
                      <a:round/>
                      <a:headEnd type="none" w="med" len="med"/>
                      <a:tailEnd type="none" w="med" len="med"/>
                    </a:lnR>
                    <a:lnT w="6350" cap="flat" cmpd="sng" algn="ctr">
                      <a:solidFill>
                        <a:srgbClr val="BBF7D0"/>
                      </a:solidFill>
                      <a:prstDash val="solid"/>
                      <a:round/>
                      <a:headEnd type="none" w="med" len="med"/>
                      <a:tailEnd type="none" w="med" len="med"/>
                    </a:lnT>
                    <a:lnB w="6350" cap="flat" cmpd="sng" algn="ctr">
                      <a:solidFill>
                        <a:srgbClr val="BBF7D0"/>
                      </a:solidFill>
                      <a:prstDash val="solid"/>
                      <a:round/>
                      <a:headEnd type="none" w="med" len="med"/>
                      <a:tailEnd type="none" w="med" len="med"/>
                    </a:lnB>
                    <a:solidFill>
                      <a:srgbClr val="F0FAF4"/>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5150066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55278">
              <a:schemeClr val="accent2">
                <a:lumMod val="60000"/>
                <a:lumOff val="4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64AC843-AC6C-155D-24DE-46D3A770AAFF}"/>
            </a:ext>
          </a:extLst>
        </p:cNvPr>
        <p:cNvGrpSpPr/>
        <p:nvPr/>
      </p:nvGrpSpPr>
      <p:grpSpPr>
        <a:xfrm>
          <a:off x="0" y="0"/>
          <a:ext cx="0" cy="0"/>
          <a:chOff x="0" y="0"/>
          <a:chExt cx="0" cy="0"/>
        </a:xfrm>
      </p:grpSpPr>
      <p:sp>
        <p:nvSpPr>
          <p:cNvPr id="45" name="Shape 7">
            <a:extLst>
              <a:ext uri="{FF2B5EF4-FFF2-40B4-BE49-F238E27FC236}">
                <a16:creationId xmlns:a16="http://schemas.microsoft.com/office/drawing/2014/main" id="{6B00CBA5-2439-5D40-C3AC-6DA9A923DECB}"/>
              </a:ext>
            </a:extLst>
          </p:cNvPr>
          <p:cNvSpPr/>
          <p:nvPr/>
        </p:nvSpPr>
        <p:spPr>
          <a:xfrm>
            <a:off x="238949" y="4614536"/>
            <a:ext cx="2748628" cy="1899137"/>
          </a:xfrm>
          <a:prstGeom prst="rect">
            <a:avLst/>
          </a:prstGeom>
          <a:solidFill>
            <a:schemeClr val="bg1">
              <a:lumMod val="95000"/>
            </a:schemeClr>
          </a:solidFill>
          <a:ln w="19050">
            <a:solidFill>
              <a:srgbClr val="C8102E"/>
            </a:solidFill>
            <a:prstDash val="solid"/>
          </a:ln>
          <a:effectLst>
            <a:outerShdw blurRad="101600" dist="38100" dir="8100000" algn="bl" rotWithShape="0">
              <a:srgbClr val="064E3B">
                <a:alpha val="15000"/>
              </a:srgbClr>
            </a:outerShdw>
          </a:effectLst>
        </p:spPr>
        <p:txBody>
          <a:bodyPr/>
          <a:lstStyle/>
          <a:p>
            <a:endParaRPr lang="en-IN"/>
          </a:p>
        </p:txBody>
      </p:sp>
      <p:sp>
        <p:nvSpPr>
          <p:cNvPr id="47" name="Shape 7">
            <a:extLst>
              <a:ext uri="{FF2B5EF4-FFF2-40B4-BE49-F238E27FC236}">
                <a16:creationId xmlns:a16="http://schemas.microsoft.com/office/drawing/2014/main" id="{B5F016C5-DF4C-BC88-AD54-2767793218CA}"/>
              </a:ext>
            </a:extLst>
          </p:cNvPr>
          <p:cNvSpPr/>
          <p:nvPr/>
        </p:nvSpPr>
        <p:spPr>
          <a:xfrm>
            <a:off x="9333543" y="2701078"/>
            <a:ext cx="2761929" cy="1806630"/>
          </a:xfrm>
          <a:prstGeom prst="rect">
            <a:avLst/>
          </a:prstGeom>
          <a:solidFill>
            <a:schemeClr val="bg1">
              <a:lumMod val="95000"/>
            </a:schemeClr>
          </a:solidFill>
          <a:ln w="19050">
            <a:solidFill>
              <a:srgbClr val="EE7012"/>
            </a:solidFill>
            <a:prstDash val="solid"/>
          </a:ln>
          <a:effectLst>
            <a:outerShdw blurRad="101600" dist="38100" dir="8100000" algn="bl" rotWithShape="0">
              <a:srgbClr val="064E3B">
                <a:alpha val="15000"/>
              </a:srgbClr>
            </a:outerShdw>
          </a:effectLst>
        </p:spPr>
        <p:txBody>
          <a:bodyPr/>
          <a:lstStyle/>
          <a:p>
            <a:endParaRPr lang="en-IN"/>
          </a:p>
        </p:txBody>
      </p:sp>
      <p:sp>
        <p:nvSpPr>
          <p:cNvPr id="46" name="Shape 7">
            <a:extLst>
              <a:ext uri="{FF2B5EF4-FFF2-40B4-BE49-F238E27FC236}">
                <a16:creationId xmlns:a16="http://schemas.microsoft.com/office/drawing/2014/main" id="{AE1588CF-7172-3045-4884-7563F80613B9}"/>
              </a:ext>
            </a:extLst>
          </p:cNvPr>
          <p:cNvSpPr/>
          <p:nvPr/>
        </p:nvSpPr>
        <p:spPr>
          <a:xfrm>
            <a:off x="6418508" y="2704670"/>
            <a:ext cx="2761929" cy="1806630"/>
          </a:xfrm>
          <a:prstGeom prst="rect">
            <a:avLst/>
          </a:prstGeom>
          <a:solidFill>
            <a:schemeClr val="bg1">
              <a:lumMod val="95000"/>
            </a:schemeClr>
          </a:solidFill>
          <a:ln w="19050">
            <a:solidFill>
              <a:srgbClr val="C8102E"/>
            </a:solidFill>
            <a:prstDash val="solid"/>
          </a:ln>
          <a:effectLst>
            <a:outerShdw blurRad="101600" dist="38100" dir="8100000" algn="bl" rotWithShape="0">
              <a:srgbClr val="064E3B">
                <a:alpha val="15000"/>
              </a:srgbClr>
            </a:outerShdw>
          </a:effectLst>
        </p:spPr>
        <p:txBody>
          <a:bodyPr/>
          <a:lstStyle/>
          <a:p>
            <a:endParaRPr lang="en-IN"/>
          </a:p>
        </p:txBody>
      </p:sp>
      <p:pic>
        <p:nvPicPr>
          <p:cNvPr id="11" name="Picture 10">
            <a:extLst>
              <a:ext uri="{FF2B5EF4-FFF2-40B4-BE49-F238E27FC236}">
                <a16:creationId xmlns:a16="http://schemas.microsoft.com/office/drawing/2014/main" id="{D4AACD77-6819-D583-7944-74CD10B3442C}"/>
              </a:ext>
            </a:extLst>
          </p:cNvPr>
          <p:cNvPicPr>
            <a:picLocks noChangeAspect="1"/>
          </p:cNvPicPr>
          <p:nvPr/>
        </p:nvPicPr>
        <p:blipFill>
          <a:blip r:embed="rId3"/>
          <a:stretch>
            <a:fillRect/>
          </a:stretch>
        </p:blipFill>
        <p:spPr>
          <a:xfrm>
            <a:off x="10606903" y="-2483"/>
            <a:ext cx="1585097" cy="579170"/>
          </a:xfrm>
          <a:prstGeom prst="rect">
            <a:avLst/>
          </a:prstGeom>
        </p:spPr>
      </p:pic>
      <p:sp useBgFill="1">
        <p:nvSpPr>
          <p:cNvPr id="7" name="Text 3">
            <a:extLst>
              <a:ext uri="{FF2B5EF4-FFF2-40B4-BE49-F238E27FC236}">
                <a16:creationId xmlns:a16="http://schemas.microsoft.com/office/drawing/2014/main" id="{F36BC09C-C994-16DE-7FC5-8F07A01E1217}"/>
              </a:ext>
            </a:extLst>
          </p:cNvPr>
          <p:cNvSpPr/>
          <p:nvPr/>
        </p:nvSpPr>
        <p:spPr>
          <a:xfrm>
            <a:off x="652469" y="507442"/>
            <a:ext cx="8229600" cy="502920"/>
          </a:xfrm>
          <a:prstGeom prst="rect">
            <a:avLst/>
          </a:prstGeom>
          <a:ln/>
        </p:spPr>
        <p:txBody>
          <a:bodyPr wrap="square" lIns="0" tIns="0" rIns="0" bIns="0" rtlCol="0" anchor="ctr"/>
          <a:lstStyle/>
          <a:p>
            <a:pPr marL="0" indent="0" algn="l">
              <a:buNone/>
            </a:pPr>
            <a:r>
              <a:rPr lang="en-US" sz="4000" b="1" dirty="0">
                <a:solidFill>
                  <a:schemeClr val="accent2">
                    <a:lumMod val="50000"/>
                  </a:schemeClr>
                </a:solidFill>
                <a:latin typeface="Times New Roman" panose="02020603050405020304" pitchFamily="18" charset="0"/>
                <a:ea typeface="Georgia" pitchFamily="34" charset="-122"/>
                <a:cs typeface="Times New Roman" panose="02020603050405020304" pitchFamily="18" charset="0"/>
              </a:rPr>
              <a:t>TES Scoring Algorithm</a:t>
            </a:r>
            <a:endParaRPr lang="en-US" sz="40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8" name="Text 4">
            <a:extLst>
              <a:ext uri="{FF2B5EF4-FFF2-40B4-BE49-F238E27FC236}">
                <a16:creationId xmlns:a16="http://schemas.microsoft.com/office/drawing/2014/main" id="{E257C40E-5BF8-F2E9-0B30-20DBD1B5C02D}"/>
              </a:ext>
            </a:extLst>
          </p:cNvPr>
          <p:cNvSpPr/>
          <p:nvPr/>
        </p:nvSpPr>
        <p:spPr>
          <a:xfrm>
            <a:off x="999548" y="1165810"/>
            <a:ext cx="9530800" cy="320040"/>
          </a:xfrm>
          <a:prstGeom prst="rect">
            <a:avLst/>
          </a:prstGeom>
          <a:noFill/>
          <a:ln/>
        </p:spPr>
        <p:txBody>
          <a:bodyPr wrap="square" lIns="0" tIns="0" rIns="0" bIns="0" rtlCol="0" anchor="ctr"/>
          <a:lstStyle/>
          <a:p>
            <a:pPr marL="0" indent="0" algn="l">
              <a:buNone/>
            </a:pPr>
            <a:r>
              <a:rPr lang="en-US" dirty="0">
                <a:solidFill>
                  <a:schemeClr val="accent2">
                    <a:lumMod val="50000"/>
                  </a:schemeClr>
                </a:solidFill>
                <a:latin typeface="Times New Roman" panose="02020603050405020304" pitchFamily="18" charset="0"/>
                <a:ea typeface="Calibri" pitchFamily="34" charset="-122"/>
                <a:cs typeface="Times New Roman" panose="02020603050405020304" pitchFamily="18" charset="0"/>
              </a:rPr>
              <a:t>CogniCare's clinical differentiator - maps NINDS diagnostic criteria to a weighted 100-point score.</a:t>
            </a:r>
            <a:endParaRPr lang="en-US" dirty="0">
              <a:solidFill>
                <a:schemeClr val="accent2">
                  <a:lumMod val="50000"/>
                </a:schemeClr>
              </a:solidFill>
              <a:latin typeface="Times New Roman" panose="02020603050405020304" pitchFamily="18" charset="0"/>
              <a:cs typeface="Times New Roman" panose="02020603050405020304" pitchFamily="18" charset="0"/>
            </a:endParaRPr>
          </a:p>
        </p:txBody>
      </p:sp>
      <p:sp useBgFill="1">
        <p:nvSpPr>
          <p:cNvPr id="12" name="Shape 5">
            <a:extLst>
              <a:ext uri="{FF2B5EF4-FFF2-40B4-BE49-F238E27FC236}">
                <a16:creationId xmlns:a16="http://schemas.microsoft.com/office/drawing/2014/main" id="{5935EC29-C1E8-4A8F-C638-D539EC2F78D0}"/>
              </a:ext>
            </a:extLst>
          </p:cNvPr>
          <p:cNvSpPr/>
          <p:nvPr/>
        </p:nvSpPr>
        <p:spPr>
          <a:xfrm>
            <a:off x="453464" y="1728831"/>
            <a:ext cx="11207594" cy="826867"/>
          </a:xfrm>
          <a:prstGeom prst="rect">
            <a:avLst/>
          </a:prstGeom>
          <a:ln w="25400">
            <a:solidFill>
              <a:srgbClr val="002060"/>
            </a:solidFill>
            <a:prstDash val="solid"/>
          </a:ln>
        </p:spPr>
        <p:txBody>
          <a:bodyPr/>
          <a:lstStyle/>
          <a:p>
            <a:endParaRPr lang="en-IN"/>
          </a:p>
        </p:txBody>
      </p:sp>
      <p:sp>
        <p:nvSpPr>
          <p:cNvPr id="13" name="Text 6">
            <a:extLst>
              <a:ext uri="{FF2B5EF4-FFF2-40B4-BE49-F238E27FC236}">
                <a16:creationId xmlns:a16="http://schemas.microsoft.com/office/drawing/2014/main" id="{CDAAA715-7392-B466-3747-3FEDF989E404}"/>
              </a:ext>
            </a:extLst>
          </p:cNvPr>
          <p:cNvSpPr/>
          <p:nvPr/>
        </p:nvSpPr>
        <p:spPr>
          <a:xfrm>
            <a:off x="530942" y="1851610"/>
            <a:ext cx="11019997" cy="621792"/>
          </a:xfrm>
          <a:prstGeom prst="rect">
            <a:avLst/>
          </a:prstGeom>
          <a:noFill/>
          <a:ln/>
        </p:spPr>
        <p:txBody>
          <a:bodyPr wrap="square" lIns="0" tIns="0" rIns="0" bIns="0" rtlCol="0" anchor="ctr"/>
          <a:lstStyle/>
          <a:p>
            <a:pPr marL="0" indent="0" algn="ctr">
              <a:buNone/>
            </a:pPr>
            <a:r>
              <a:rPr lang="en-US" sz="1600" b="1" dirty="0">
                <a:solidFill>
                  <a:schemeClr val="accent2">
                    <a:lumMod val="50000"/>
                  </a:schemeClr>
                </a:solidFill>
                <a:latin typeface="Consolas" pitchFamily="34" charset="0"/>
                <a:ea typeface="Consolas" pitchFamily="34" charset="-122"/>
                <a:cs typeface="Consolas" pitchFamily="34" charset="-120"/>
              </a:rPr>
              <a:t>S_TES  =  </a:t>
            </a:r>
            <a:r>
              <a:rPr lang="en-US" sz="1600" b="1" dirty="0" err="1">
                <a:solidFill>
                  <a:schemeClr val="accent2">
                    <a:lumMod val="50000"/>
                  </a:schemeClr>
                </a:solidFill>
                <a:latin typeface="Consolas" pitchFamily="34" charset="0"/>
                <a:ea typeface="Consolas" pitchFamily="34" charset="-122"/>
                <a:cs typeface="Consolas" pitchFamily="34" charset="-120"/>
              </a:rPr>
              <a:t>S_Burden</a:t>
            </a:r>
            <a:r>
              <a:rPr lang="en-US" sz="1600" b="1" dirty="0">
                <a:solidFill>
                  <a:schemeClr val="accent2">
                    <a:lumMod val="50000"/>
                  </a:schemeClr>
                </a:solidFill>
                <a:latin typeface="Consolas" pitchFamily="34" charset="0"/>
                <a:ea typeface="Consolas" pitchFamily="34" charset="-122"/>
                <a:cs typeface="Consolas" pitchFamily="34" charset="-120"/>
              </a:rPr>
              <a:t>  +  </a:t>
            </a:r>
            <a:r>
              <a:rPr lang="en-US" sz="1600" b="1" dirty="0" err="1">
                <a:solidFill>
                  <a:schemeClr val="accent2">
                    <a:lumMod val="50000"/>
                  </a:schemeClr>
                </a:solidFill>
                <a:latin typeface="Consolas" pitchFamily="34" charset="0"/>
                <a:ea typeface="Consolas" pitchFamily="34" charset="-122"/>
                <a:cs typeface="Consolas" pitchFamily="34" charset="-120"/>
              </a:rPr>
              <a:t>S_History</a:t>
            </a:r>
            <a:r>
              <a:rPr lang="en-US" sz="1600" b="1" dirty="0">
                <a:solidFill>
                  <a:schemeClr val="accent2">
                    <a:lumMod val="50000"/>
                  </a:schemeClr>
                </a:solidFill>
                <a:latin typeface="Consolas" pitchFamily="34" charset="0"/>
                <a:ea typeface="Consolas" pitchFamily="34" charset="-122"/>
                <a:cs typeface="Consolas" pitchFamily="34" charset="-120"/>
              </a:rPr>
              <a:t>  +  </a:t>
            </a:r>
            <a:r>
              <a:rPr lang="en-US" sz="1600" b="1" dirty="0" err="1">
                <a:solidFill>
                  <a:schemeClr val="accent2">
                    <a:lumMod val="50000"/>
                  </a:schemeClr>
                </a:solidFill>
                <a:latin typeface="Consolas" pitchFamily="34" charset="0"/>
                <a:ea typeface="Consolas" pitchFamily="34" charset="-122"/>
                <a:cs typeface="Consolas" pitchFamily="34" charset="-120"/>
              </a:rPr>
              <a:t>S_Criteria</a:t>
            </a:r>
            <a:r>
              <a:rPr lang="en-US" sz="1600" b="1" dirty="0">
                <a:solidFill>
                  <a:schemeClr val="accent2">
                    <a:lumMod val="50000"/>
                  </a:schemeClr>
                </a:solidFill>
                <a:latin typeface="Consolas" pitchFamily="34" charset="0"/>
                <a:ea typeface="Consolas" pitchFamily="34" charset="-122"/>
                <a:cs typeface="Consolas" pitchFamily="34" charset="-120"/>
              </a:rPr>
              <a:t>       </a:t>
            </a:r>
          </a:p>
          <a:p>
            <a:pPr marL="0" indent="0" algn="ctr">
              <a:buNone/>
            </a:pPr>
            <a:r>
              <a:rPr lang="en-US" sz="1600" b="1" dirty="0">
                <a:solidFill>
                  <a:schemeClr val="accent2">
                    <a:lumMod val="50000"/>
                  </a:schemeClr>
                </a:solidFill>
                <a:latin typeface="Consolas" pitchFamily="34" charset="0"/>
                <a:ea typeface="Consolas" pitchFamily="34" charset="-122"/>
                <a:cs typeface="Consolas" pitchFamily="34" charset="-120"/>
              </a:rPr>
              <a:t>where  </a:t>
            </a:r>
            <a:r>
              <a:rPr lang="en-US" sz="1600" b="1" dirty="0" err="1">
                <a:solidFill>
                  <a:schemeClr val="accent2">
                    <a:lumMod val="50000"/>
                  </a:schemeClr>
                </a:solidFill>
                <a:latin typeface="Consolas" pitchFamily="34" charset="0"/>
                <a:ea typeface="Consolas" pitchFamily="34" charset="-122"/>
                <a:cs typeface="Consolas" pitchFamily="34" charset="-120"/>
              </a:rPr>
              <a:t>S_Criteria</a:t>
            </a:r>
            <a:r>
              <a:rPr lang="en-US" sz="1600" b="1" dirty="0">
                <a:solidFill>
                  <a:schemeClr val="accent2">
                    <a:lumMod val="50000"/>
                  </a:schemeClr>
                </a:solidFill>
                <a:latin typeface="Consolas" pitchFamily="34" charset="0"/>
                <a:ea typeface="Consolas" pitchFamily="34" charset="-122"/>
                <a:cs typeface="Consolas" pitchFamily="34" charset="-120"/>
              </a:rPr>
              <a:t>  =  S_RHI  +  </a:t>
            </a:r>
            <a:r>
              <a:rPr lang="en-US" sz="1600" b="1" dirty="0" err="1">
                <a:solidFill>
                  <a:schemeClr val="accent2">
                    <a:lumMod val="50000"/>
                  </a:schemeClr>
                </a:solidFill>
                <a:latin typeface="Consolas" pitchFamily="34" charset="0"/>
                <a:ea typeface="Consolas" pitchFamily="34" charset="-122"/>
                <a:cs typeface="Consolas" pitchFamily="34" charset="-120"/>
              </a:rPr>
              <a:t>S_Core</a:t>
            </a:r>
            <a:r>
              <a:rPr lang="en-US" sz="1600" b="1" dirty="0">
                <a:solidFill>
                  <a:schemeClr val="accent2">
                    <a:lumMod val="50000"/>
                  </a:schemeClr>
                </a:solidFill>
                <a:latin typeface="Consolas" pitchFamily="34" charset="0"/>
                <a:ea typeface="Consolas" pitchFamily="34" charset="-122"/>
                <a:cs typeface="Consolas" pitchFamily="34" charset="-120"/>
              </a:rPr>
              <a:t>  +  </a:t>
            </a:r>
            <a:r>
              <a:rPr lang="en-US" sz="1600" b="1" dirty="0" err="1">
                <a:solidFill>
                  <a:schemeClr val="accent2">
                    <a:lumMod val="50000"/>
                  </a:schemeClr>
                </a:solidFill>
                <a:latin typeface="Consolas" pitchFamily="34" charset="0"/>
                <a:ea typeface="Consolas" pitchFamily="34" charset="-122"/>
                <a:cs typeface="Consolas" pitchFamily="34" charset="-120"/>
              </a:rPr>
              <a:t>S_Supp</a:t>
            </a:r>
            <a:r>
              <a:rPr lang="en-US" sz="1600" b="1" dirty="0">
                <a:solidFill>
                  <a:schemeClr val="accent2">
                    <a:lumMod val="50000"/>
                  </a:schemeClr>
                </a:solidFill>
                <a:latin typeface="Consolas" pitchFamily="34" charset="0"/>
                <a:ea typeface="Consolas" pitchFamily="34" charset="-122"/>
                <a:cs typeface="Consolas" pitchFamily="34" charset="-120"/>
              </a:rPr>
              <a:t>  +  </a:t>
            </a:r>
            <a:r>
              <a:rPr lang="en-US" sz="1600" b="1" dirty="0" err="1">
                <a:solidFill>
                  <a:schemeClr val="accent2">
                    <a:lumMod val="50000"/>
                  </a:schemeClr>
                </a:solidFill>
                <a:latin typeface="Consolas" pitchFamily="34" charset="0"/>
                <a:ea typeface="Consolas" pitchFamily="34" charset="-122"/>
                <a:cs typeface="Consolas" pitchFamily="34" charset="-120"/>
              </a:rPr>
              <a:t>S_Prog</a:t>
            </a:r>
            <a:endParaRPr lang="en-US" sz="1600" b="1" dirty="0">
              <a:solidFill>
                <a:schemeClr val="accent2">
                  <a:lumMod val="50000"/>
                </a:schemeClr>
              </a:solidFill>
              <a:latin typeface="Consolas" pitchFamily="34" charset="0"/>
              <a:ea typeface="Consolas" pitchFamily="34" charset="-122"/>
              <a:cs typeface="Consolas" pitchFamily="34" charset="-120"/>
            </a:endParaRPr>
          </a:p>
        </p:txBody>
      </p:sp>
      <p:sp>
        <p:nvSpPr>
          <p:cNvPr id="14" name="Shape 7">
            <a:extLst>
              <a:ext uri="{FF2B5EF4-FFF2-40B4-BE49-F238E27FC236}">
                <a16:creationId xmlns:a16="http://schemas.microsoft.com/office/drawing/2014/main" id="{7A1FDDD7-9514-A909-0396-055272862CD8}"/>
              </a:ext>
            </a:extLst>
          </p:cNvPr>
          <p:cNvSpPr/>
          <p:nvPr/>
        </p:nvSpPr>
        <p:spPr>
          <a:xfrm>
            <a:off x="225648" y="2708182"/>
            <a:ext cx="2761929" cy="1757342"/>
          </a:xfrm>
          <a:prstGeom prst="rect">
            <a:avLst/>
          </a:prstGeom>
          <a:solidFill>
            <a:schemeClr val="bg1">
              <a:lumMod val="95000"/>
            </a:schemeClr>
          </a:solidFill>
          <a:ln w="19050">
            <a:solidFill>
              <a:srgbClr val="6EE7B7"/>
            </a:solidFill>
            <a:prstDash val="solid"/>
          </a:ln>
          <a:effectLst>
            <a:outerShdw blurRad="101600" dist="38100" dir="8100000" algn="bl" rotWithShape="0">
              <a:srgbClr val="064E3B">
                <a:alpha val="15000"/>
              </a:srgbClr>
            </a:outerShdw>
          </a:effectLst>
        </p:spPr>
        <p:txBody>
          <a:bodyPr/>
          <a:lstStyle/>
          <a:p>
            <a:endParaRPr lang="en-IN"/>
          </a:p>
        </p:txBody>
      </p:sp>
      <p:sp>
        <p:nvSpPr>
          <p:cNvPr id="20" name="Shape 13">
            <a:extLst>
              <a:ext uri="{FF2B5EF4-FFF2-40B4-BE49-F238E27FC236}">
                <a16:creationId xmlns:a16="http://schemas.microsoft.com/office/drawing/2014/main" id="{B9CE0FC1-C1ED-87F8-6CE3-B5701490CB2B}"/>
              </a:ext>
            </a:extLst>
          </p:cNvPr>
          <p:cNvSpPr/>
          <p:nvPr/>
        </p:nvSpPr>
        <p:spPr>
          <a:xfrm>
            <a:off x="3392153" y="2683538"/>
            <a:ext cx="2761929" cy="1806630"/>
          </a:xfrm>
          <a:prstGeom prst="rect">
            <a:avLst/>
          </a:prstGeom>
          <a:solidFill>
            <a:schemeClr val="bg1">
              <a:lumMod val="95000"/>
            </a:schemeClr>
          </a:solidFill>
          <a:ln w="19050">
            <a:solidFill>
              <a:srgbClr val="0D9488"/>
            </a:solidFill>
            <a:prstDash val="solid"/>
          </a:ln>
          <a:effectLst>
            <a:outerShdw blurRad="101600" dist="38100" dir="8100000" algn="bl" rotWithShape="0">
              <a:srgbClr val="064E3B">
                <a:alpha val="15000"/>
              </a:srgbClr>
            </a:outerShdw>
          </a:effectLst>
        </p:spPr>
        <p:txBody>
          <a:bodyPr/>
          <a:lstStyle/>
          <a:p>
            <a:endParaRPr lang="en-IN"/>
          </a:p>
        </p:txBody>
      </p:sp>
      <p:sp>
        <p:nvSpPr>
          <p:cNvPr id="21" name="Shape 14">
            <a:extLst>
              <a:ext uri="{FF2B5EF4-FFF2-40B4-BE49-F238E27FC236}">
                <a16:creationId xmlns:a16="http://schemas.microsoft.com/office/drawing/2014/main" id="{5F9B1689-0136-04E3-D06A-0079BA20DB2C}"/>
              </a:ext>
            </a:extLst>
          </p:cNvPr>
          <p:cNvSpPr/>
          <p:nvPr/>
        </p:nvSpPr>
        <p:spPr>
          <a:xfrm>
            <a:off x="3385265" y="2732894"/>
            <a:ext cx="2761929" cy="65785"/>
          </a:xfrm>
          <a:prstGeom prst="rect">
            <a:avLst/>
          </a:prstGeom>
          <a:solidFill>
            <a:srgbClr val="0D9488"/>
          </a:solidFill>
          <a:ln w="12700">
            <a:solidFill>
              <a:srgbClr val="0D9488"/>
            </a:solidFill>
            <a:prstDash val="solid"/>
          </a:ln>
        </p:spPr>
        <p:txBody>
          <a:bodyPr/>
          <a:lstStyle/>
          <a:p>
            <a:endParaRPr lang="en-IN"/>
          </a:p>
        </p:txBody>
      </p:sp>
      <p:sp>
        <p:nvSpPr>
          <p:cNvPr id="22" name="Text 15">
            <a:extLst>
              <a:ext uri="{FF2B5EF4-FFF2-40B4-BE49-F238E27FC236}">
                <a16:creationId xmlns:a16="http://schemas.microsoft.com/office/drawing/2014/main" id="{F00E25CE-074C-9E51-3C65-0CDBA7189E92}"/>
              </a:ext>
            </a:extLst>
          </p:cNvPr>
          <p:cNvSpPr/>
          <p:nvPr/>
        </p:nvSpPr>
        <p:spPr>
          <a:xfrm>
            <a:off x="3469069" y="2833541"/>
            <a:ext cx="1499616" cy="347472"/>
          </a:xfrm>
          <a:prstGeom prst="rect">
            <a:avLst/>
          </a:prstGeom>
          <a:noFill/>
          <a:ln/>
        </p:spPr>
        <p:txBody>
          <a:bodyPr wrap="square" lIns="0" tIns="0" rIns="0" bIns="0" rtlCol="0" anchor="ctr"/>
          <a:lstStyle/>
          <a:p>
            <a:pPr marL="0" indent="0" algn="l">
              <a:buNone/>
            </a:pPr>
            <a:r>
              <a:rPr lang="en-US" sz="1300" b="1" dirty="0" err="1">
                <a:solidFill>
                  <a:srgbClr val="0D9488"/>
                </a:solidFill>
                <a:latin typeface="Consolas" pitchFamily="34" charset="0"/>
                <a:ea typeface="Consolas" pitchFamily="34" charset="-122"/>
                <a:cs typeface="Consolas" pitchFamily="34" charset="-120"/>
              </a:rPr>
              <a:t>S_Burden</a:t>
            </a:r>
            <a:endParaRPr lang="en-US" sz="1300" dirty="0"/>
          </a:p>
        </p:txBody>
      </p:sp>
      <p:sp>
        <p:nvSpPr>
          <p:cNvPr id="23" name="Text 16">
            <a:extLst>
              <a:ext uri="{FF2B5EF4-FFF2-40B4-BE49-F238E27FC236}">
                <a16:creationId xmlns:a16="http://schemas.microsoft.com/office/drawing/2014/main" id="{ABD6700C-4029-52EB-B2CB-D4E92A26D737}"/>
              </a:ext>
            </a:extLst>
          </p:cNvPr>
          <p:cNvSpPr/>
          <p:nvPr/>
        </p:nvSpPr>
        <p:spPr>
          <a:xfrm>
            <a:off x="3469069" y="3134311"/>
            <a:ext cx="1499616" cy="256032"/>
          </a:xfrm>
          <a:prstGeom prst="rect">
            <a:avLst/>
          </a:prstGeom>
          <a:noFill/>
          <a:ln/>
        </p:spPr>
        <p:txBody>
          <a:bodyPr wrap="square" lIns="0" tIns="0" rIns="0" bIns="0" rtlCol="0" anchor="ctr"/>
          <a:lstStyle/>
          <a:p>
            <a:pPr marL="0" indent="0" algn="l">
              <a:buNone/>
            </a:pPr>
            <a:r>
              <a:rPr lang="en-US" sz="1050" b="1" dirty="0">
                <a:latin typeface="Calibri" pitchFamily="34" charset="0"/>
                <a:ea typeface="Calibri" pitchFamily="34" charset="-122"/>
                <a:cs typeface="Calibri" pitchFamily="34" charset="-120"/>
              </a:rPr>
              <a:t>Max: 30 pts</a:t>
            </a:r>
            <a:endParaRPr lang="en-US" sz="1050" dirty="0"/>
          </a:p>
        </p:txBody>
      </p:sp>
      <p:sp>
        <p:nvSpPr>
          <p:cNvPr id="24" name="Text 17">
            <a:extLst>
              <a:ext uri="{FF2B5EF4-FFF2-40B4-BE49-F238E27FC236}">
                <a16:creationId xmlns:a16="http://schemas.microsoft.com/office/drawing/2014/main" id="{5FCF7171-3270-4F0A-C4C3-383C58221462}"/>
              </a:ext>
            </a:extLst>
          </p:cNvPr>
          <p:cNvSpPr/>
          <p:nvPr/>
        </p:nvSpPr>
        <p:spPr>
          <a:xfrm>
            <a:off x="3469069" y="3358253"/>
            <a:ext cx="2499112" cy="457200"/>
          </a:xfrm>
          <a:prstGeom prst="rect">
            <a:avLst/>
          </a:prstGeom>
          <a:noFill/>
          <a:ln/>
        </p:spPr>
        <p:txBody>
          <a:bodyPr wrap="square" lIns="0" tIns="0" rIns="0" bIns="0" rtlCol="0" anchor="ctr"/>
          <a:lstStyle/>
          <a:p>
            <a:pPr marL="0" indent="0" algn="l">
              <a:buNone/>
            </a:pPr>
            <a:r>
              <a:rPr lang="en-US" sz="1200" dirty="0">
                <a:latin typeface="Calibri" panose="020F0502020204030204" pitchFamily="34" charset="0"/>
                <a:ea typeface="Calibri" panose="020F0502020204030204" pitchFamily="34" charset="0"/>
                <a:cs typeface="Calibri" panose="020F0502020204030204" pitchFamily="34" charset="0"/>
              </a:rPr>
              <a:t>Active Symptom Trajectory</a:t>
            </a:r>
          </a:p>
        </p:txBody>
      </p:sp>
      <p:sp>
        <p:nvSpPr>
          <p:cNvPr id="25" name="Text 18">
            <a:extLst>
              <a:ext uri="{FF2B5EF4-FFF2-40B4-BE49-F238E27FC236}">
                <a16:creationId xmlns:a16="http://schemas.microsoft.com/office/drawing/2014/main" id="{EB212A32-2A8C-14AE-4D26-671F1EBEA17F}"/>
              </a:ext>
            </a:extLst>
          </p:cNvPr>
          <p:cNvSpPr/>
          <p:nvPr/>
        </p:nvSpPr>
        <p:spPr>
          <a:xfrm>
            <a:off x="3469069" y="3834196"/>
            <a:ext cx="2499112" cy="518632"/>
          </a:xfrm>
          <a:prstGeom prst="rect">
            <a:avLst/>
          </a:prstGeom>
          <a:noFill/>
          <a:ln/>
        </p:spPr>
        <p:txBody>
          <a:bodyPr wrap="square" lIns="0" tIns="0" rIns="0" bIns="0" rtlCol="0" anchor="t"/>
          <a:lstStyle/>
          <a:p>
            <a:pPr marL="0" indent="0" algn="l">
              <a:buNone/>
            </a:pPr>
            <a:r>
              <a:rPr lang="en-US" sz="1200" dirty="0">
                <a:solidFill>
                  <a:srgbClr val="0D9488"/>
                </a:solidFill>
                <a:latin typeface="Calibri" pitchFamily="34" charset="0"/>
                <a:ea typeface="Calibri" pitchFamily="34" charset="-122"/>
                <a:cs typeface="Calibri" pitchFamily="34" charset="-120"/>
              </a:rPr>
              <a:t>+0.9 Present · +2.0 Worsening</a:t>
            </a:r>
          </a:p>
          <a:p>
            <a:pPr marL="0" indent="0" algn="l">
              <a:buNone/>
            </a:pPr>
            <a:r>
              <a:rPr lang="en-US" sz="1200" dirty="0">
                <a:solidFill>
                  <a:srgbClr val="0D9488"/>
                </a:solidFill>
                <a:latin typeface="Calibri" pitchFamily="34" charset="0"/>
                <a:ea typeface="Calibri" pitchFamily="34" charset="-122"/>
                <a:cs typeface="Calibri" pitchFamily="34" charset="-120"/>
              </a:rPr>
              <a:t>−0.5 Improving  (per symptom </a:t>
            </a:r>
            <a:r>
              <a:rPr lang="en-US" sz="1200" dirty="0" err="1">
                <a:solidFill>
                  <a:srgbClr val="0D9488"/>
                </a:solidFill>
                <a:latin typeface="Calibri" pitchFamily="34" charset="0"/>
                <a:ea typeface="Calibri" pitchFamily="34" charset="-122"/>
                <a:cs typeface="Calibri" pitchFamily="34" charset="-120"/>
              </a:rPr>
              <a:t>i</a:t>
            </a:r>
            <a:r>
              <a:rPr lang="en-US" sz="1200" dirty="0">
                <a:solidFill>
                  <a:srgbClr val="0D9488"/>
                </a:solidFill>
                <a:latin typeface="Calibri" pitchFamily="34" charset="0"/>
                <a:ea typeface="Calibri" pitchFamily="34" charset="-122"/>
                <a:cs typeface="Calibri" pitchFamily="34" charset="-120"/>
              </a:rPr>
              <a:t>)</a:t>
            </a:r>
          </a:p>
        </p:txBody>
      </p:sp>
      <p:sp>
        <p:nvSpPr>
          <p:cNvPr id="28" name="Text 21">
            <a:extLst>
              <a:ext uri="{FF2B5EF4-FFF2-40B4-BE49-F238E27FC236}">
                <a16:creationId xmlns:a16="http://schemas.microsoft.com/office/drawing/2014/main" id="{CBD13C5C-996D-D0A8-F214-C9BA38694812}"/>
              </a:ext>
            </a:extLst>
          </p:cNvPr>
          <p:cNvSpPr/>
          <p:nvPr/>
        </p:nvSpPr>
        <p:spPr>
          <a:xfrm>
            <a:off x="324912" y="4748337"/>
            <a:ext cx="1499616" cy="347472"/>
          </a:xfrm>
          <a:prstGeom prst="rect">
            <a:avLst/>
          </a:prstGeom>
          <a:noFill/>
          <a:ln/>
        </p:spPr>
        <p:txBody>
          <a:bodyPr wrap="square" lIns="0" tIns="0" rIns="0" bIns="0" rtlCol="0" anchor="ctr"/>
          <a:lstStyle/>
          <a:p>
            <a:pPr marL="0" indent="0" algn="l">
              <a:buNone/>
            </a:pPr>
            <a:r>
              <a:rPr lang="en-US" sz="1300" b="1" dirty="0">
                <a:solidFill>
                  <a:srgbClr val="C8102E"/>
                </a:solidFill>
                <a:latin typeface="Consolas" pitchFamily="34" charset="0"/>
                <a:ea typeface="Consolas" pitchFamily="34" charset="-122"/>
                <a:cs typeface="Consolas" pitchFamily="34" charset="-120"/>
              </a:rPr>
              <a:t>S_Supp</a:t>
            </a:r>
            <a:endParaRPr lang="en-US" sz="1300" dirty="0">
              <a:solidFill>
                <a:srgbClr val="C8102E"/>
              </a:solidFill>
            </a:endParaRPr>
          </a:p>
        </p:txBody>
      </p:sp>
      <p:sp>
        <p:nvSpPr>
          <p:cNvPr id="29" name="Text 22">
            <a:extLst>
              <a:ext uri="{FF2B5EF4-FFF2-40B4-BE49-F238E27FC236}">
                <a16:creationId xmlns:a16="http://schemas.microsoft.com/office/drawing/2014/main" id="{9FBBC178-90C8-DEE6-580A-6923D7475C55}"/>
              </a:ext>
            </a:extLst>
          </p:cNvPr>
          <p:cNvSpPr/>
          <p:nvPr/>
        </p:nvSpPr>
        <p:spPr>
          <a:xfrm>
            <a:off x="324912" y="5040480"/>
            <a:ext cx="1499616" cy="256032"/>
          </a:xfrm>
          <a:prstGeom prst="rect">
            <a:avLst/>
          </a:prstGeom>
          <a:noFill/>
          <a:ln/>
        </p:spPr>
        <p:txBody>
          <a:bodyPr wrap="square" lIns="0" tIns="0" rIns="0" bIns="0" rtlCol="0" anchor="ctr"/>
          <a:lstStyle/>
          <a:p>
            <a:pPr marL="0" indent="0" algn="l">
              <a:buNone/>
            </a:pPr>
            <a:r>
              <a:rPr lang="en-US" sz="1050" b="1" dirty="0">
                <a:latin typeface="Calibri" pitchFamily="34" charset="0"/>
                <a:ea typeface="Calibri" pitchFamily="34" charset="-122"/>
                <a:cs typeface="Calibri" pitchFamily="34" charset="-120"/>
              </a:rPr>
              <a:t>Max: 20 pts</a:t>
            </a:r>
            <a:endParaRPr lang="en-US" sz="1050" dirty="0"/>
          </a:p>
        </p:txBody>
      </p:sp>
      <p:sp>
        <p:nvSpPr>
          <p:cNvPr id="30" name="Text 23">
            <a:extLst>
              <a:ext uri="{FF2B5EF4-FFF2-40B4-BE49-F238E27FC236}">
                <a16:creationId xmlns:a16="http://schemas.microsoft.com/office/drawing/2014/main" id="{A92F4476-6B4B-A736-D482-835EBE861434}"/>
              </a:ext>
            </a:extLst>
          </p:cNvPr>
          <p:cNvSpPr/>
          <p:nvPr/>
        </p:nvSpPr>
        <p:spPr>
          <a:xfrm>
            <a:off x="324912" y="5318854"/>
            <a:ext cx="2536274" cy="457200"/>
          </a:xfrm>
          <a:prstGeom prst="rect">
            <a:avLst/>
          </a:prstGeom>
          <a:noFill/>
          <a:ln/>
        </p:spPr>
        <p:txBody>
          <a:bodyPr wrap="square" lIns="0" tIns="0" rIns="0" bIns="0" rtlCol="0" anchor="ctr"/>
          <a:lstStyle/>
          <a:p>
            <a:pPr marL="0" indent="0" algn="l">
              <a:buNone/>
            </a:pPr>
            <a:r>
              <a:rPr lang="en-US" sz="1200" dirty="0">
                <a:latin typeface="Calibri" panose="020F0502020204030204" pitchFamily="34" charset="0"/>
                <a:ea typeface="Calibri" panose="020F0502020204030204" pitchFamily="34" charset="0"/>
                <a:cs typeface="Calibri" panose="020F0502020204030204" pitchFamily="34" charset="0"/>
              </a:rPr>
              <a:t>Supportive Symptoms</a:t>
            </a:r>
          </a:p>
        </p:txBody>
      </p:sp>
      <p:sp>
        <p:nvSpPr>
          <p:cNvPr id="31" name="Text 24">
            <a:extLst>
              <a:ext uri="{FF2B5EF4-FFF2-40B4-BE49-F238E27FC236}">
                <a16:creationId xmlns:a16="http://schemas.microsoft.com/office/drawing/2014/main" id="{E1F60464-01A4-2C48-3A76-7EEB3F6CDDAB}"/>
              </a:ext>
            </a:extLst>
          </p:cNvPr>
          <p:cNvSpPr/>
          <p:nvPr/>
        </p:nvSpPr>
        <p:spPr>
          <a:xfrm>
            <a:off x="315080" y="5798396"/>
            <a:ext cx="2536274" cy="916820"/>
          </a:xfrm>
          <a:prstGeom prst="rect">
            <a:avLst/>
          </a:prstGeom>
          <a:noFill/>
          <a:ln/>
        </p:spPr>
        <p:txBody>
          <a:bodyPr wrap="square" lIns="0" tIns="0" rIns="0" bIns="0" rtlCol="0" anchor="t"/>
          <a:lstStyle/>
          <a:p>
            <a:pPr marL="0" indent="0" algn="l">
              <a:buNone/>
            </a:pPr>
            <a:r>
              <a:rPr lang="en-US" sz="1200" dirty="0">
                <a:solidFill>
                  <a:srgbClr val="0D9488"/>
                </a:solidFill>
                <a:latin typeface="Calibri" pitchFamily="34" charset="0"/>
                <a:ea typeface="Calibri" pitchFamily="34" charset="-122"/>
                <a:cs typeface="Calibri" pitchFamily="34" charset="-120"/>
              </a:rPr>
              <a:t>+4 per secondary indicator</a:t>
            </a:r>
          </a:p>
          <a:p>
            <a:pPr marL="0" indent="0" algn="l">
              <a:buNone/>
            </a:pPr>
            <a:r>
              <a:rPr lang="en-US" sz="1200" dirty="0">
                <a:solidFill>
                  <a:srgbClr val="0D9488"/>
                </a:solidFill>
                <a:latin typeface="Calibri" pitchFamily="34" charset="0"/>
                <a:ea typeface="Calibri" pitchFamily="34" charset="-122"/>
                <a:cs typeface="Calibri" pitchFamily="34" charset="-120"/>
              </a:rPr>
              <a:t>(impulsivity , paranoia , headache)</a:t>
            </a:r>
          </a:p>
          <a:p>
            <a:pPr marL="0" indent="0" algn="l">
              <a:buNone/>
            </a:pPr>
            <a:r>
              <a:rPr lang="en-US" sz="1200" dirty="0">
                <a:solidFill>
                  <a:srgbClr val="0D9488"/>
                </a:solidFill>
                <a:latin typeface="Calibri" pitchFamily="34" charset="0"/>
                <a:ea typeface="Calibri" pitchFamily="34" charset="-122"/>
                <a:cs typeface="Calibri" pitchFamily="34" charset="-120"/>
              </a:rPr>
              <a:t>Cap prevents false positives</a:t>
            </a:r>
          </a:p>
        </p:txBody>
      </p:sp>
      <p:sp>
        <p:nvSpPr>
          <p:cNvPr id="32" name="Shape 25">
            <a:extLst>
              <a:ext uri="{FF2B5EF4-FFF2-40B4-BE49-F238E27FC236}">
                <a16:creationId xmlns:a16="http://schemas.microsoft.com/office/drawing/2014/main" id="{19956167-595C-F143-E126-1658E36925CD}"/>
              </a:ext>
            </a:extLst>
          </p:cNvPr>
          <p:cNvSpPr/>
          <p:nvPr/>
        </p:nvSpPr>
        <p:spPr>
          <a:xfrm>
            <a:off x="3378380" y="4608357"/>
            <a:ext cx="2761929" cy="1890622"/>
          </a:xfrm>
          <a:prstGeom prst="rect">
            <a:avLst/>
          </a:prstGeom>
          <a:solidFill>
            <a:schemeClr val="bg1">
              <a:lumMod val="95000"/>
            </a:schemeClr>
          </a:solidFill>
          <a:ln w="19050">
            <a:solidFill>
              <a:srgbClr val="F97316"/>
            </a:solidFill>
            <a:prstDash val="solid"/>
          </a:ln>
          <a:effectLst>
            <a:outerShdw blurRad="101600" dist="38100" dir="8100000" algn="bl" rotWithShape="0">
              <a:srgbClr val="064E3B">
                <a:alpha val="15000"/>
              </a:srgbClr>
            </a:outerShdw>
          </a:effectLst>
        </p:spPr>
        <p:txBody>
          <a:bodyPr/>
          <a:lstStyle/>
          <a:p>
            <a:endParaRPr lang="en-IN" dirty="0"/>
          </a:p>
        </p:txBody>
      </p:sp>
      <p:sp>
        <p:nvSpPr>
          <p:cNvPr id="33" name="Shape 26">
            <a:extLst>
              <a:ext uri="{FF2B5EF4-FFF2-40B4-BE49-F238E27FC236}">
                <a16:creationId xmlns:a16="http://schemas.microsoft.com/office/drawing/2014/main" id="{69ECDE9C-4F07-E4CF-BE4F-AD3F5F2D5E2D}"/>
              </a:ext>
            </a:extLst>
          </p:cNvPr>
          <p:cNvSpPr/>
          <p:nvPr/>
        </p:nvSpPr>
        <p:spPr>
          <a:xfrm>
            <a:off x="3392153" y="4652987"/>
            <a:ext cx="2748155" cy="45719"/>
          </a:xfrm>
          <a:prstGeom prst="rect">
            <a:avLst/>
          </a:prstGeom>
          <a:solidFill>
            <a:srgbClr val="F97316"/>
          </a:solidFill>
          <a:ln w="12700">
            <a:solidFill>
              <a:srgbClr val="F97316"/>
            </a:solidFill>
            <a:prstDash val="solid"/>
          </a:ln>
        </p:spPr>
        <p:txBody>
          <a:bodyPr/>
          <a:lstStyle/>
          <a:p>
            <a:endParaRPr lang="en-IN"/>
          </a:p>
        </p:txBody>
      </p:sp>
      <p:sp>
        <p:nvSpPr>
          <p:cNvPr id="34" name="Text 27">
            <a:extLst>
              <a:ext uri="{FF2B5EF4-FFF2-40B4-BE49-F238E27FC236}">
                <a16:creationId xmlns:a16="http://schemas.microsoft.com/office/drawing/2014/main" id="{DA1FF761-4E01-F056-DA4F-60C852CAF74A}"/>
              </a:ext>
            </a:extLst>
          </p:cNvPr>
          <p:cNvSpPr/>
          <p:nvPr/>
        </p:nvSpPr>
        <p:spPr>
          <a:xfrm>
            <a:off x="3469069" y="4722979"/>
            <a:ext cx="1499616" cy="347472"/>
          </a:xfrm>
          <a:prstGeom prst="rect">
            <a:avLst/>
          </a:prstGeom>
          <a:noFill/>
          <a:ln/>
        </p:spPr>
        <p:txBody>
          <a:bodyPr wrap="square" lIns="0" tIns="0" rIns="0" bIns="0" rtlCol="0" anchor="ctr"/>
          <a:lstStyle/>
          <a:p>
            <a:pPr marL="0" indent="0" algn="l">
              <a:buNone/>
            </a:pPr>
            <a:r>
              <a:rPr lang="en-US" sz="1300" b="1" dirty="0">
                <a:solidFill>
                  <a:srgbClr val="F97316"/>
                </a:solidFill>
                <a:latin typeface="Consolas" pitchFamily="34" charset="0"/>
                <a:ea typeface="Consolas" pitchFamily="34" charset="-122"/>
                <a:cs typeface="Consolas" pitchFamily="34" charset="-120"/>
              </a:rPr>
              <a:t>S_Prog</a:t>
            </a:r>
            <a:endParaRPr lang="en-US" sz="1300" dirty="0"/>
          </a:p>
        </p:txBody>
      </p:sp>
      <p:sp>
        <p:nvSpPr>
          <p:cNvPr id="35" name="Text 28">
            <a:extLst>
              <a:ext uri="{FF2B5EF4-FFF2-40B4-BE49-F238E27FC236}">
                <a16:creationId xmlns:a16="http://schemas.microsoft.com/office/drawing/2014/main" id="{F1E56E0F-BF59-FBCF-7870-8ABD73999B0E}"/>
              </a:ext>
            </a:extLst>
          </p:cNvPr>
          <p:cNvSpPr/>
          <p:nvPr/>
        </p:nvSpPr>
        <p:spPr>
          <a:xfrm>
            <a:off x="3469069" y="4975427"/>
            <a:ext cx="1499616" cy="256032"/>
          </a:xfrm>
          <a:prstGeom prst="rect">
            <a:avLst/>
          </a:prstGeom>
          <a:noFill/>
          <a:ln/>
        </p:spPr>
        <p:txBody>
          <a:bodyPr wrap="square" lIns="0" tIns="0" rIns="0" bIns="0" rtlCol="0" anchor="ctr"/>
          <a:lstStyle/>
          <a:p>
            <a:pPr marL="0" indent="0" algn="l">
              <a:buNone/>
            </a:pPr>
            <a:r>
              <a:rPr lang="en-US" sz="1050" b="1" dirty="0">
                <a:latin typeface="Calibri" pitchFamily="34" charset="0"/>
                <a:ea typeface="Calibri" pitchFamily="34" charset="-122"/>
                <a:cs typeface="Calibri" pitchFamily="34" charset="-120"/>
              </a:rPr>
              <a:t>+8 pts</a:t>
            </a:r>
            <a:endParaRPr lang="en-US" sz="1050" dirty="0"/>
          </a:p>
        </p:txBody>
      </p:sp>
      <p:sp>
        <p:nvSpPr>
          <p:cNvPr id="36" name="Text 29">
            <a:extLst>
              <a:ext uri="{FF2B5EF4-FFF2-40B4-BE49-F238E27FC236}">
                <a16:creationId xmlns:a16="http://schemas.microsoft.com/office/drawing/2014/main" id="{95B04746-95B4-9448-5186-334CFFC4A518}"/>
              </a:ext>
            </a:extLst>
          </p:cNvPr>
          <p:cNvSpPr/>
          <p:nvPr/>
        </p:nvSpPr>
        <p:spPr>
          <a:xfrm>
            <a:off x="3469069" y="5296512"/>
            <a:ext cx="1601136" cy="457200"/>
          </a:xfrm>
          <a:prstGeom prst="rect">
            <a:avLst/>
          </a:prstGeom>
          <a:noFill/>
          <a:ln/>
        </p:spPr>
        <p:txBody>
          <a:bodyPr wrap="square" lIns="0" tIns="0" rIns="0" bIns="0" rtlCol="0" anchor="ctr"/>
          <a:lstStyle/>
          <a:p>
            <a:pPr marL="0" indent="0" algn="l">
              <a:buNone/>
            </a:pPr>
            <a:r>
              <a:rPr lang="en-US" sz="1200" dirty="0">
                <a:latin typeface="Calibri" pitchFamily="34" charset="0"/>
                <a:ea typeface="Calibri" pitchFamily="34" charset="-122"/>
                <a:cs typeface="Calibri" pitchFamily="34" charset="-120"/>
              </a:rPr>
              <a:t>Progressive</a:t>
            </a:r>
            <a:r>
              <a:rPr lang="en-US" sz="1200" dirty="0"/>
              <a:t> </a:t>
            </a:r>
            <a:r>
              <a:rPr lang="en-US" sz="1200" dirty="0">
                <a:latin typeface="Calibri" pitchFamily="34" charset="0"/>
                <a:ea typeface="Calibri" pitchFamily="34" charset="-122"/>
                <a:cs typeface="Calibri" pitchFamily="34" charset="-120"/>
              </a:rPr>
              <a:t>Decline</a:t>
            </a:r>
            <a:endParaRPr lang="en-US" sz="1200" dirty="0"/>
          </a:p>
        </p:txBody>
      </p:sp>
      <p:sp>
        <p:nvSpPr>
          <p:cNvPr id="37" name="Text 30">
            <a:extLst>
              <a:ext uri="{FF2B5EF4-FFF2-40B4-BE49-F238E27FC236}">
                <a16:creationId xmlns:a16="http://schemas.microsoft.com/office/drawing/2014/main" id="{CE3A638A-9970-5A6E-7725-42BC0052236F}"/>
              </a:ext>
            </a:extLst>
          </p:cNvPr>
          <p:cNvSpPr/>
          <p:nvPr/>
        </p:nvSpPr>
        <p:spPr>
          <a:xfrm>
            <a:off x="3469068" y="5747030"/>
            <a:ext cx="2626931" cy="650864"/>
          </a:xfrm>
          <a:prstGeom prst="rect">
            <a:avLst/>
          </a:prstGeom>
          <a:noFill/>
          <a:ln/>
        </p:spPr>
        <p:txBody>
          <a:bodyPr wrap="square" lIns="0" tIns="0" rIns="0" bIns="0" rtlCol="0" anchor="t"/>
          <a:lstStyle/>
          <a:p>
            <a:pPr marL="0" indent="0" algn="l">
              <a:buNone/>
            </a:pPr>
            <a:r>
              <a:rPr lang="en-US" sz="1200" dirty="0">
                <a:solidFill>
                  <a:srgbClr val="0D9488"/>
                </a:solidFill>
                <a:latin typeface="Calibri" pitchFamily="34" charset="0"/>
                <a:ea typeface="Calibri" pitchFamily="34" charset="-122"/>
                <a:cs typeface="Calibri" pitchFamily="34" charset="-120"/>
              </a:rPr>
              <a:t>+8 if AI confirms progressive</a:t>
            </a:r>
          </a:p>
          <a:p>
            <a:pPr marL="0" indent="0" algn="l">
              <a:buNone/>
            </a:pPr>
            <a:r>
              <a:rPr lang="en-US" sz="1200" dirty="0">
                <a:solidFill>
                  <a:srgbClr val="0D9488"/>
                </a:solidFill>
                <a:latin typeface="Calibri" pitchFamily="34" charset="0"/>
                <a:ea typeface="Calibri" pitchFamily="34" charset="-122"/>
                <a:cs typeface="Calibri" pitchFamily="34" charset="-120"/>
              </a:rPr>
              <a:t>trajectory over 12 months</a:t>
            </a:r>
          </a:p>
          <a:p>
            <a:pPr marL="0" indent="0" algn="l">
              <a:buNone/>
            </a:pPr>
            <a:r>
              <a:rPr lang="en-US" sz="1200" dirty="0">
                <a:solidFill>
                  <a:srgbClr val="0D9488"/>
                </a:solidFill>
                <a:latin typeface="Calibri" pitchFamily="34" charset="0"/>
                <a:ea typeface="Calibri" pitchFamily="34" charset="-122"/>
                <a:cs typeface="Calibri" pitchFamily="34" charset="-120"/>
              </a:rPr>
              <a:t>+2× bonus for escalating burden</a:t>
            </a:r>
          </a:p>
        </p:txBody>
      </p:sp>
      <p:sp>
        <p:nvSpPr>
          <p:cNvPr id="39" name="Shape 32">
            <a:extLst>
              <a:ext uri="{FF2B5EF4-FFF2-40B4-BE49-F238E27FC236}">
                <a16:creationId xmlns:a16="http://schemas.microsoft.com/office/drawing/2014/main" id="{86DCD273-1504-70D8-BF45-E336F76C814B}"/>
              </a:ext>
            </a:extLst>
          </p:cNvPr>
          <p:cNvSpPr/>
          <p:nvPr/>
        </p:nvSpPr>
        <p:spPr>
          <a:xfrm>
            <a:off x="238949" y="2740443"/>
            <a:ext cx="2732297" cy="73070"/>
          </a:xfrm>
          <a:prstGeom prst="rect">
            <a:avLst/>
          </a:prstGeom>
          <a:solidFill>
            <a:srgbClr val="6EE7B7"/>
          </a:solidFill>
          <a:ln w="12700">
            <a:solidFill>
              <a:srgbClr val="6EE7B7"/>
            </a:solidFill>
            <a:prstDash val="solid"/>
          </a:ln>
        </p:spPr>
        <p:txBody>
          <a:bodyPr/>
          <a:lstStyle/>
          <a:p>
            <a:endParaRPr lang="en-IN"/>
          </a:p>
        </p:txBody>
      </p:sp>
      <p:sp>
        <p:nvSpPr>
          <p:cNvPr id="40" name="Text 33">
            <a:extLst>
              <a:ext uri="{FF2B5EF4-FFF2-40B4-BE49-F238E27FC236}">
                <a16:creationId xmlns:a16="http://schemas.microsoft.com/office/drawing/2014/main" id="{2F0464B7-939A-E3AE-7498-E48041149586}"/>
              </a:ext>
            </a:extLst>
          </p:cNvPr>
          <p:cNvSpPr/>
          <p:nvPr/>
        </p:nvSpPr>
        <p:spPr>
          <a:xfrm>
            <a:off x="315080" y="2808589"/>
            <a:ext cx="1499616" cy="347472"/>
          </a:xfrm>
          <a:prstGeom prst="rect">
            <a:avLst/>
          </a:prstGeom>
          <a:noFill/>
          <a:ln/>
        </p:spPr>
        <p:txBody>
          <a:bodyPr wrap="square" lIns="0" tIns="0" rIns="0" bIns="0" rtlCol="0" anchor="ctr"/>
          <a:lstStyle/>
          <a:p>
            <a:pPr marL="0" indent="0" algn="l">
              <a:buNone/>
            </a:pPr>
            <a:r>
              <a:rPr lang="en-US" sz="1300" b="1" dirty="0">
                <a:solidFill>
                  <a:srgbClr val="6EE7B7"/>
                </a:solidFill>
                <a:latin typeface="Consolas" pitchFamily="34" charset="0"/>
                <a:ea typeface="Consolas" pitchFamily="34" charset="-122"/>
                <a:cs typeface="Consolas" pitchFamily="34" charset="-120"/>
              </a:rPr>
              <a:t>S_Hist</a:t>
            </a:r>
            <a:endParaRPr lang="en-US" sz="1300" dirty="0"/>
          </a:p>
        </p:txBody>
      </p:sp>
      <p:sp>
        <p:nvSpPr>
          <p:cNvPr id="41" name="Text 34">
            <a:extLst>
              <a:ext uri="{FF2B5EF4-FFF2-40B4-BE49-F238E27FC236}">
                <a16:creationId xmlns:a16="http://schemas.microsoft.com/office/drawing/2014/main" id="{6C15A42D-3CA2-4C32-66E9-8C03E310EA6C}"/>
              </a:ext>
            </a:extLst>
          </p:cNvPr>
          <p:cNvSpPr/>
          <p:nvPr/>
        </p:nvSpPr>
        <p:spPr>
          <a:xfrm>
            <a:off x="321968" y="3091847"/>
            <a:ext cx="1499616" cy="256032"/>
          </a:xfrm>
          <a:prstGeom prst="rect">
            <a:avLst/>
          </a:prstGeom>
          <a:noFill/>
          <a:ln/>
        </p:spPr>
        <p:txBody>
          <a:bodyPr wrap="square" lIns="0" tIns="0" rIns="0" bIns="0" rtlCol="0" anchor="ctr"/>
          <a:lstStyle/>
          <a:p>
            <a:pPr marL="0" indent="0" algn="l">
              <a:buNone/>
            </a:pPr>
            <a:r>
              <a:rPr lang="en-US" sz="1050" b="1" dirty="0">
                <a:latin typeface="Calibri" pitchFamily="34" charset="0"/>
                <a:ea typeface="Calibri" pitchFamily="34" charset="-122"/>
                <a:cs typeface="Calibri" pitchFamily="34" charset="-120"/>
              </a:rPr>
              <a:t>Max: 15 pts</a:t>
            </a:r>
            <a:endParaRPr lang="en-US" sz="1050" dirty="0"/>
          </a:p>
        </p:txBody>
      </p:sp>
      <p:sp>
        <p:nvSpPr>
          <p:cNvPr id="42" name="Text 35">
            <a:extLst>
              <a:ext uri="{FF2B5EF4-FFF2-40B4-BE49-F238E27FC236}">
                <a16:creationId xmlns:a16="http://schemas.microsoft.com/office/drawing/2014/main" id="{9D500D38-0462-5A9C-2D86-B2FA4CB49EDB}"/>
              </a:ext>
            </a:extLst>
          </p:cNvPr>
          <p:cNvSpPr/>
          <p:nvPr/>
        </p:nvSpPr>
        <p:spPr>
          <a:xfrm>
            <a:off x="321967" y="3303107"/>
            <a:ext cx="2539219" cy="457200"/>
          </a:xfrm>
          <a:prstGeom prst="rect">
            <a:avLst/>
          </a:prstGeom>
          <a:noFill/>
          <a:ln/>
        </p:spPr>
        <p:txBody>
          <a:bodyPr wrap="square" lIns="0" tIns="0" rIns="0" bIns="0" rtlCol="0" anchor="ctr"/>
          <a:lstStyle/>
          <a:p>
            <a:pPr marL="0" indent="0" algn="l">
              <a:buNone/>
            </a:pPr>
            <a:r>
              <a:rPr lang="en-US" sz="1200" dirty="0">
                <a:latin typeface="Calibri" pitchFamily="34" charset="0"/>
                <a:ea typeface="Calibri" pitchFamily="34" charset="-122"/>
                <a:cs typeface="Calibri" pitchFamily="34" charset="-120"/>
              </a:rPr>
              <a:t>Patient History</a:t>
            </a:r>
            <a:r>
              <a:rPr lang="en-US" sz="1200" dirty="0"/>
              <a:t> </a:t>
            </a:r>
            <a:r>
              <a:rPr lang="en-US" sz="1200" dirty="0">
                <a:latin typeface="Calibri" pitchFamily="34" charset="0"/>
                <a:ea typeface="Calibri" pitchFamily="34" charset="-122"/>
                <a:cs typeface="Calibri" pitchFamily="34" charset="-120"/>
              </a:rPr>
              <a:t>&amp; Risk Factors</a:t>
            </a:r>
            <a:endParaRPr lang="en-US" sz="1200" dirty="0"/>
          </a:p>
        </p:txBody>
      </p:sp>
      <p:sp>
        <p:nvSpPr>
          <p:cNvPr id="43" name="Text 36">
            <a:extLst>
              <a:ext uri="{FF2B5EF4-FFF2-40B4-BE49-F238E27FC236}">
                <a16:creationId xmlns:a16="http://schemas.microsoft.com/office/drawing/2014/main" id="{8D14B914-B426-5F03-0922-7B66113AD189}"/>
              </a:ext>
            </a:extLst>
          </p:cNvPr>
          <p:cNvSpPr/>
          <p:nvPr/>
        </p:nvSpPr>
        <p:spPr>
          <a:xfrm>
            <a:off x="321966" y="3701940"/>
            <a:ext cx="2440897" cy="655074"/>
          </a:xfrm>
          <a:prstGeom prst="rect">
            <a:avLst/>
          </a:prstGeom>
          <a:noFill/>
          <a:ln/>
        </p:spPr>
        <p:txBody>
          <a:bodyPr wrap="square" lIns="0" tIns="0" rIns="0" bIns="0" rtlCol="0" anchor="t"/>
          <a:lstStyle/>
          <a:p>
            <a:pPr marL="0" indent="0" algn="l">
              <a:buNone/>
            </a:pPr>
            <a:r>
              <a:rPr lang="el-GR" sz="1200" dirty="0">
                <a:solidFill>
                  <a:srgbClr val="0D9488"/>
                </a:solidFill>
                <a:latin typeface="Calibri" pitchFamily="34" charset="0"/>
                <a:ea typeface="Calibri" pitchFamily="34" charset="-122"/>
                <a:cs typeface="Calibri" pitchFamily="34" charset="-120"/>
              </a:rPr>
              <a:t>Σ(ω_</a:t>
            </a:r>
            <a:r>
              <a:rPr lang="en-US" sz="1200" dirty="0" err="1">
                <a:solidFill>
                  <a:srgbClr val="0D9488"/>
                </a:solidFill>
                <a:latin typeface="Calibri" pitchFamily="34" charset="0"/>
                <a:ea typeface="Calibri" pitchFamily="34" charset="-122"/>
                <a:cs typeface="Calibri" pitchFamily="34" charset="-120"/>
              </a:rPr>
              <a:t>k·x_k</a:t>
            </a:r>
            <a:r>
              <a:rPr lang="en-US" sz="1200" dirty="0">
                <a:solidFill>
                  <a:srgbClr val="0D9488"/>
                </a:solidFill>
                <a:latin typeface="Calibri" pitchFamily="34" charset="0"/>
                <a:ea typeface="Calibri" pitchFamily="34" charset="-122"/>
                <a:cs typeface="Calibri" pitchFamily="34" charset="-120"/>
              </a:rPr>
              <a:t>) </a:t>
            </a:r>
          </a:p>
          <a:p>
            <a:pPr marL="0" indent="0" algn="l">
              <a:buNone/>
            </a:pPr>
            <a:r>
              <a:rPr lang="en-US" sz="1200" dirty="0">
                <a:solidFill>
                  <a:srgbClr val="0D9488"/>
                </a:solidFill>
                <a:latin typeface="Calibri" pitchFamily="34" charset="0"/>
                <a:ea typeface="Calibri" pitchFamily="34" charset="-122"/>
                <a:cs typeface="Calibri" pitchFamily="34" charset="-120"/>
              </a:rPr>
              <a:t>Substance </a:t>
            </a:r>
            <a:r>
              <a:rPr lang="el-GR" sz="1200" dirty="0">
                <a:solidFill>
                  <a:srgbClr val="0D9488"/>
                </a:solidFill>
                <a:latin typeface="Calibri" pitchFamily="34" charset="0"/>
                <a:ea typeface="Calibri" pitchFamily="34" charset="-122"/>
                <a:cs typeface="Calibri" pitchFamily="34" charset="-120"/>
              </a:rPr>
              <a:t>ω=3.0</a:t>
            </a:r>
          </a:p>
          <a:p>
            <a:pPr marL="0" indent="0" algn="l">
              <a:buNone/>
            </a:pPr>
            <a:r>
              <a:rPr lang="en-US" sz="1200" dirty="0">
                <a:solidFill>
                  <a:srgbClr val="0D9488"/>
                </a:solidFill>
                <a:latin typeface="Calibri" pitchFamily="34" charset="0"/>
                <a:ea typeface="Calibri" pitchFamily="34" charset="-122"/>
                <a:cs typeface="Calibri" pitchFamily="34" charset="-120"/>
              </a:rPr>
              <a:t>ADL loss </a:t>
            </a:r>
            <a:r>
              <a:rPr lang="el-GR" sz="1200" dirty="0">
                <a:solidFill>
                  <a:srgbClr val="0D9488"/>
                </a:solidFill>
                <a:latin typeface="Calibri" pitchFamily="34" charset="0"/>
                <a:ea typeface="Calibri" pitchFamily="34" charset="-122"/>
                <a:cs typeface="Calibri" pitchFamily="34" charset="-120"/>
              </a:rPr>
              <a:t>ω=2.0 </a:t>
            </a:r>
            <a:r>
              <a:rPr lang="en-US" sz="1200" dirty="0">
                <a:solidFill>
                  <a:srgbClr val="0D9488"/>
                </a:solidFill>
                <a:latin typeface="Calibri" pitchFamily="34" charset="0"/>
                <a:ea typeface="Calibri" pitchFamily="34" charset="-122"/>
                <a:cs typeface="Calibri" pitchFamily="34" charset="-120"/>
              </a:rPr>
              <a:t>,</a:t>
            </a:r>
            <a:r>
              <a:rPr lang="el-GR" sz="1200" dirty="0">
                <a:solidFill>
                  <a:srgbClr val="0D9488"/>
                </a:solidFill>
                <a:latin typeface="Calibri" pitchFamily="34" charset="0"/>
                <a:ea typeface="Calibri" pitchFamily="34" charset="-122"/>
                <a:cs typeface="Calibri" pitchFamily="34" charset="-120"/>
              </a:rPr>
              <a:t> </a:t>
            </a:r>
            <a:r>
              <a:rPr lang="en-US" sz="1200" dirty="0">
                <a:solidFill>
                  <a:srgbClr val="0D9488"/>
                </a:solidFill>
                <a:latin typeface="Calibri" pitchFamily="34" charset="0"/>
                <a:ea typeface="Calibri" pitchFamily="34" charset="-122"/>
                <a:cs typeface="Calibri" pitchFamily="34" charset="-120"/>
              </a:rPr>
              <a:t>Semantic scan</a:t>
            </a:r>
          </a:p>
        </p:txBody>
      </p:sp>
      <p:sp>
        <p:nvSpPr>
          <p:cNvPr id="44" name="Text 37">
            <a:extLst>
              <a:ext uri="{FF2B5EF4-FFF2-40B4-BE49-F238E27FC236}">
                <a16:creationId xmlns:a16="http://schemas.microsoft.com/office/drawing/2014/main" id="{1B038DF5-520C-DF31-6E4B-EBFB58FC13FC}"/>
              </a:ext>
            </a:extLst>
          </p:cNvPr>
          <p:cNvSpPr/>
          <p:nvPr/>
        </p:nvSpPr>
        <p:spPr>
          <a:xfrm>
            <a:off x="3779520" y="6480189"/>
            <a:ext cx="8412480" cy="274320"/>
          </a:xfrm>
          <a:prstGeom prst="rect">
            <a:avLst/>
          </a:prstGeom>
          <a:noFill/>
          <a:ln/>
        </p:spPr>
        <p:txBody>
          <a:bodyPr wrap="square" lIns="0" tIns="0" rIns="0" bIns="0" rtlCol="0" anchor="ctr"/>
          <a:lstStyle/>
          <a:p>
            <a:pPr marL="0" indent="0" algn="ctr">
              <a:buNone/>
            </a:pPr>
            <a:r>
              <a:rPr lang="en-US" sz="1050" dirty="0"/>
              <a:t>Score 0-39: Low Risk  ·  40-69: Moderate  ·  70-100: High - aligned with NINDS consensus criteria</a:t>
            </a:r>
          </a:p>
        </p:txBody>
      </p:sp>
      <p:sp>
        <p:nvSpPr>
          <p:cNvPr id="19" name="Text 12">
            <a:extLst>
              <a:ext uri="{FF2B5EF4-FFF2-40B4-BE49-F238E27FC236}">
                <a16:creationId xmlns:a16="http://schemas.microsoft.com/office/drawing/2014/main" id="{9B674463-3402-8A95-9EC0-5393C41A938D}"/>
              </a:ext>
            </a:extLst>
          </p:cNvPr>
          <p:cNvSpPr/>
          <p:nvPr/>
        </p:nvSpPr>
        <p:spPr>
          <a:xfrm>
            <a:off x="6566304" y="3794141"/>
            <a:ext cx="2451154" cy="457200"/>
          </a:xfrm>
          <a:prstGeom prst="rect">
            <a:avLst/>
          </a:prstGeom>
          <a:noFill/>
          <a:ln/>
        </p:spPr>
        <p:txBody>
          <a:bodyPr wrap="square" lIns="0" tIns="0" rIns="0" bIns="0" rtlCol="0" anchor="t"/>
          <a:lstStyle/>
          <a:p>
            <a:pPr marL="0" indent="0" algn="l">
              <a:buNone/>
            </a:pPr>
            <a:r>
              <a:rPr lang="en-US" sz="1200" dirty="0">
                <a:solidFill>
                  <a:srgbClr val="0D9488"/>
                </a:solidFill>
                <a:latin typeface="Calibri" pitchFamily="34" charset="0"/>
                <a:ea typeface="Calibri" pitchFamily="34" charset="-122"/>
                <a:cs typeface="Calibri" pitchFamily="34" charset="-120"/>
              </a:rPr>
              <a:t>+5 per type: sport, military, concussive episodes</a:t>
            </a:r>
            <a:endParaRPr lang="en-US" sz="1200" dirty="0">
              <a:solidFill>
                <a:srgbClr val="0D9488"/>
              </a:solidFill>
            </a:endParaRPr>
          </a:p>
        </p:txBody>
      </p:sp>
      <p:sp>
        <p:nvSpPr>
          <p:cNvPr id="18" name="Text 11">
            <a:extLst>
              <a:ext uri="{FF2B5EF4-FFF2-40B4-BE49-F238E27FC236}">
                <a16:creationId xmlns:a16="http://schemas.microsoft.com/office/drawing/2014/main" id="{B8E25E51-AA9B-86BC-33C7-D6621B8904D7}"/>
              </a:ext>
            </a:extLst>
          </p:cNvPr>
          <p:cNvSpPr/>
          <p:nvPr/>
        </p:nvSpPr>
        <p:spPr>
          <a:xfrm>
            <a:off x="6537254" y="3347879"/>
            <a:ext cx="2480204" cy="457200"/>
          </a:xfrm>
          <a:prstGeom prst="rect">
            <a:avLst/>
          </a:prstGeom>
          <a:noFill/>
          <a:ln/>
        </p:spPr>
        <p:txBody>
          <a:bodyPr wrap="square" lIns="0" tIns="0" rIns="0" bIns="0" rtlCol="0" anchor="ctr"/>
          <a:lstStyle/>
          <a:p>
            <a:pPr marL="0" indent="0" algn="l">
              <a:buNone/>
            </a:pPr>
            <a:r>
              <a:rPr lang="en-US" sz="1200" dirty="0">
                <a:solidFill>
                  <a:schemeClr val="tx1">
                    <a:lumMod val="95000"/>
                    <a:lumOff val="5000"/>
                  </a:schemeClr>
                </a:solidFill>
                <a:latin typeface="Calibri" pitchFamily="34" charset="0"/>
                <a:ea typeface="Calibri" pitchFamily="34" charset="-122"/>
                <a:cs typeface="Calibri" pitchFamily="34" charset="-120"/>
              </a:rPr>
              <a:t>Repetitive Head</a:t>
            </a:r>
            <a:r>
              <a:rPr lang="en-US" sz="1200" dirty="0">
                <a:solidFill>
                  <a:schemeClr val="tx1">
                    <a:lumMod val="95000"/>
                    <a:lumOff val="5000"/>
                  </a:schemeClr>
                </a:solidFill>
              </a:rPr>
              <a:t> </a:t>
            </a:r>
            <a:r>
              <a:rPr lang="en-US" sz="1200" dirty="0">
                <a:solidFill>
                  <a:schemeClr val="tx1">
                    <a:lumMod val="95000"/>
                    <a:lumOff val="5000"/>
                  </a:schemeClr>
                </a:solidFill>
                <a:latin typeface="Calibri" pitchFamily="34" charset="0"/>
                <a:ea typeface="Calibri" pitchFamily="34" charset="-122"/>
                <a:cs typeface="Calibri" pitchFamily="34" charset="-120"/>
              </a:rPr>
              <a:t>Impact Exposure</a:t>
            </a:r>
            <a:endParaRPr lang="en-US" sz="1200" dirty="0">
              <a:solidFill>
                <a:schemeClr val="tx1">
                  <a:lumMod val="95000"/>
                  <a:lumOff val="5000"/>
                </a:schemeClr>
              </a:solidFill>
            </a:endParaRPr>
          </a:p>
        </p:txBody>
      </p:sp>
      <p:sp>
        <p:nvSpPr>
          <p:cNvPr id="17" name="Text 10">
            <a:extLst>
              <a:ext uri="{FF2B5EF4-FFF2-40B4-BE49-F238E27FC236}">
                <a16:creationId xmlns:a16="http://schemas.microsoft.com/office/drawing/2014/main" id="{41DA40F3-AC5F-D0CD-CF97-D354D62C3AEB}"/>
              </a:ext>
            </a:extLst>
          </p:cNvPr>
          <p:cNvSpPr/>
          <p:nvPr/>
        </p:nvSpPr>
        <p:spPr>
          <a:xfrm>
            <a:off x="6528700" y="3084046"/>
            <a:ext cx="1499616" cy="256032"/>
          </a:xfrm>
          <a:prstGeom prst="rect">
            <a:avLst/>
          </a:prstGeom>
          <a:noFill/>
          <a:ln/>
        </p:spPr>
        <p:txBody>
          <a:bodyPr wrap="square" lIns="0" tIns="0" rIns="0" bIns="0" rtlCol="0" anchor="ctr"/>
          <a:lstStyle/>
          <a:p>
            <a:pPr marL="0" indent="0" algn="l">
              <a:buNone/>
            </a:pPr>
            <a:r>
              <a:rPr lang="en-US" sz="1050" b="1" dirty="0">
                <a:solidFill>
                  <a:schemeClr val="tx1">
                    <a:lumMod val="95000"/>
                    <a:lumOff val="5000"/>
                  </a:schemeClr>
                </a:solidFill>
                <a:latin typeface="Calibri" pitchFamily="34" charset="0"/>
                <a:ea typeface="Calibri" pitchFamily="34" charset="-122"/>
                <a:cs typeface="Calibri" pitchFamily="34" charset="-120"/>
              </a:rPr>
              <a:t>Max: 25 pts</a:t>
            </a:r>
            <a:endParaRPr lang="en-US" sz="1050" dirty="0">
              <a:solidFill>
                <a:schemeClr val="tx1">
                  <a:lumMod val="95000"/>
                  <a:lumOff val="5000"/>
                </a:schemeClr>
              </a:solidFill>
            </a:endParaRPr>
          </a:p>
        </p:txBody>
      </p:sp>
      <p:sp>
        <p:nvSpPr>
          <p:cNvPr id="16" name="Text 9">
            <a:extLst>
              <a:ext uri="{FF2B5EF4-FFF2-40B4-BE49-F238E27FC236}">
                <a16:creationId xmlns:a16="http://schemas.microsoft.com/office/drawing/2014/main" id="{7500EFDC-DF9D-4F4A-135C-CA5E5487D19E}"/>
              </a:ext>
            </a:extLst>
          </p:cNvPr>
          <p:cNvSpPr/>
          <p:nvPr/>
        </p:nvSpPr>
        <p:spPr>
          <a:xfrm>
            <a:off x="6537254" y="2718677"/>
            <a:ext cx="1516725" cy="539841"/>
          </a:xfrm>
          <a:prstGeom prst="rect">
            <a:avLst/>
          </a:prstGeom>
          <a:noFill/>
          <a:ln/>
        </p:spPr>
        <p:txBody>
          <a:bodyPr wrap="square" lIns="0" tIns="0" rIns="0" bIns="0" rtlCol="0" anchor="ctr"/>
          <a:lstStyle/>
          <a:p>
            <a:pPr marL="0" indent="0" algn="l">
              <a:buNone/>
            </a:pPr>
            <a:r>
              <a:rPr lang="en-US" sz="1300" b="1" dirty="0">
                <a:solidFill>
                  <a:srgbClr val="C8102E"/>
                </a:solidFill>
                <a:latin typeface="Consolas" pitchFamily="34" charset="0"/>
                <a:ea typeface="Consolas" pitchFamily="34" charset="-122"/>
                <a:cs typeface="Consolas" pitchFamily="34" charset="-120"/>
              </a:rPr>
              <a:t>S_RHI</a:t>
            </a:r>
            <a:endParaRPr lang="en-US" sz="1300" dirty="0"/>
          </a:p>
        </p:txBody>
      </p:sp>
      <p:sp>
        <p:nvSpPr>
          <p:cNvPr id="15" name="Shape 8">
            <a:extLst>
              <a:ext uri="{FF2B5EF4-FFF2-40B4-BE49-F238E27FC236}">
                <a16:creationId xmlns:a16="http://schemas.microsoft.com/office/drawing/2014/main" id="{F9F94DD2-9939-E962-E7E5-77DA418387EC}"/>
              </a:ext>
            </a:extLst>
          </p:cNvPr>
          <p:cNvSpPr/>
          <p:nvPr/>
        </p:nvSpPr>
        <p:spPr>
          <a:xfrm>
            <a:off x="222618" y="4647857"/>
            <a:ext cx="2748628" cy="75122"/>
          </a:xfrm>
          <a:prstGeom prst="rect">
            <a:avLst/>
          </a:prstGeom>
          <a:solidFill>
            <a:srgbClr val="C8102E"/>
          </a:solidFill>
          <a:ln w="12700">
            <a:solidFill>
              <a:srgbClr val="C8102E"/>
            </a:solidFill>
            <a:prstDash val="solid"/>
          </a:ln>
        </p:spPr>
        <p:txBody>
          <a:bodyPr/>
          <a:lstStyle/>
          <a:p>
            <a:endParaRPr lang="en-IN"/>
          </a:p>
        </p:txBody>
      </p:sp>
      <p:sp>
        <p:nvSpPr>
          <p:cNvPr id="48" name="Shape 8">
            <a:extLst>
              <a:ext uri="{FF2B5EF4-FFF2-40B4-BE49-F238E27FC236}">
                <a16:creationId xmlns:a16="http://schemas.microsoft.com/office/drawing/2014/main" id="{66AEE845-BA99-86A8-77AA-BE001A8CDB0D}"/>
              </a:ext>
            </a:extLst>
          </p:cNvPr>
          <p:cNvSpPr/>
          <p:nvPr/>
        </p:nvSpPr>
        <p:spPr>
          <a:xfrm>
            <a:off x="6418508" y="2744160"/>
            <a:ext cx="2761929" cy="54519"/>
          </a:xfrm>
          <a:prstGeom prst="rect">
            <a:avLst/>
          </a:prstGeom>
          <a:solidFill>
            <a:srgbClr val="C8102E"/>
          </a:solidFill>
          <a:ln w="12700">
            <a:solidFill>
              <a:srgbClr val="C8102E"/>
            </a:solidFill>
            <a:prstDash val="solid"/>
          </a:ln>
        </p:spPr>
        <p:txBody>
          <a:bodyPr/>
          <a:lstStyle/>
          <a:p>
            <a:endParaRPr lang="en-IN"/>
          </a:p>
        </p:txBody>
      </p:sp>
      <p:sp>
        <p:nvSpPr>
          <p:cNvPr id="49" name="Shape 26">
            <a:extLst>
              <a:ext uri="{FF2B5EF4-FFF2-40B4-BE49-F238E27FC236}">
                <a16:creationId xmlns:a16="http://schemas.microsoft.com/office/drawing/2014/main" id="{F5DC3304-4475-C69C-08AE-5F11E8E0676C}"/>
              </a:ext>
            </a:extLst>
          </p:cNvPr>
          <p:cNvSpPr/>
          <p:nvPr/>
        </p:nvSpPr>
        <p:spPr>
          <a:xfrm>
            <a:off x="9333543" y="2739042"/>
            <a:ext cx="2748155" cy="54519"/>
          </a:xfrm>
          <a:prstGeom prst="rect">
            <a:avLst/>
          </a:prstGeom>
          <a:solidFill>
            <a:srgbClr val="F97316"/>
          </a:solidFill>
          <a:ln w="12700">
            <a:solidFill>
              <a:srgbClr val="F97316"/>
            </a:solidFill>
            <a:prstDash val="solid"/>
          </a:ln>
        </p:spPr>
        <p:txBody>
          <a:bodyPr/>
          <a:lstStyle/>
          <a:p>
            <a:endParaRPr lang="en-IN"/>
          </a:p>
        </p:txBody>
      </p:sp>
      <p:sp>
        <p:nvSpPr>
          <p:cNvPr id="51" name="Text 27">
            <a:extLst>
              <a:ext uri="{FF2B5EF4-FFF2-40B4-BE49-F238E27FC236}">
                <a16:creationId xmlns:a16="http://schemas.microsoft.com/office/drawing/2014/main" id="{3763308B-8D19-4710-38BE-CB7A2BB92C48}"/>
              </a:ext>
            </a:extLst>
          </p:cNvPr>
          <p:cNvSpPr/>
          <p:nvPr/>
        </p:nvSpPr>
        <p:spPr>
          <a:xfrm>
            <a:off x="9451750" y="2811450"/>
            <a:ext cx="1499616" cy="347472"/>
          </a:xfrm>
          <a:prstGeom prst="rect">
            <a:avLst/>
          </a:prstGeom>
          <a:noFill/>
          <a:ln/>
        </p:spPr>
        <p:txBody>
          <a:bodyPr wrap="square" lIns="0" tIns="0" rIns="0" bIns="0" rtlCol="0" anchor="ctr"/>
          <a:lstStyle/>
          <a:p>
            <a:pPr marL="0" indent="0" algn="l">
              <a:buNone/>
            </a:pPr>
            <a:r>
              <a:rPr lang="en-US" sz="1300" b="1" dirty="0" err="1">
                <a:solidFill>
                  <a:srgbClr val="F97316"/>
                </a:solidFill>
                <a:latin typeface="Consolas" pitchFamily="34" charset="0"/>
                <a:ea typeface="Consolas" pitchFamily="34" charset="-122"/>
                <a:cs typeface="Consolas" pitchFamily="34" charset="-120"/>
              </a:rPr>
              <a:t>S_Core</a:t>
            </a:r>
            <a:endParaRPr lang="en-US" sz="1300" dirty="0"/>
          </a:p>
        </p:txBody>
      </p:sp>
      <p:sp>
        <p:nvSpPr>
          <p:cNvPr id="52" name="Text 28">
            <a:extLst>
              <a:ext uri="{FF2B5EF4-FFF2-40B4-BE49-F238E27FC236}">
                <a16:creationId xmlns:a16="http://schemas.microsoft.com/office/drawing/2014/main" id="{BC96B021-FFFB-CA5E-075E-A89E9CC44025}"/>
              </a:ext>
            </a:extLst>
          </p:cNvPr>
          <p:cNvSpPr/>
          <p:nvPr/>
        </p:nvSpPr>
        <p:spPr>
          <a:xfrm>
            <a:off x="9451750" y="3054920"/>
            <a:ext cx="1499616" cy="256032"/>
          </a:xfrm>
          <a:prstGeom prst="rect">
            <a:avLst/>
          </a:prstGeom>
          <a:noFill/>
          <a:ln/>
        </p:spPr>
        <p:txBody>
          <a:bodyPr wrap="square" lIns="0" tIns="0" rIns="0" bIns="0" rtlCol="0" anchor="ctr"/>
          <a:lstStyle/>
          <a:p>
            <a:pPr marL="0" indent="0" algn="l">
              <a:buNone/>
            </a:pPr>
            <a:r>
              <a:rPr lang="en-US" sz="1050" b="1" dirty="0">
                <a:latin typeface="Calibri" pitchFamily="34" charset="0"/>
                <a:ea typeface="Calibri" pitchFamily="34" charset="-122"/>
                <a:cs typeface="Calibri" pitchFamily="34" charset="-120"/>
              </a:rPr>
              <a:t>+9 per feature</a:t>
            </a:r>
            <a:endParaRPr lang="en-US" sz="1050" dirty="0"/>
          </a:p>
        </p:txBody>
      </p:sp>
      <p:sp>
        <p:nvSpPr>
          <p:cNvPr id="53" name="Text 29">
            <a:extLst>
              <a:ext uri="{FF2B5EF4-FFF2-40B4-BE49-F238E27FC236}">
                <a16:creationId xmlns:a16="http://schemas.microsoft.com/office/drawing/2014/main" id="{151D4118-1276-1CA1-D95A-10804714642D}"/>
              </a:ext>
            </a:extLst>
          </p:cNvPr>
          <p:cNvSpPr/>
          <p:nvPr/>
        </p:nvSpPr>
        <p:spPr>
          <a:xfrm>
            <a:off x="9444862" y="3271758"/>
            <a:ext cx="2521489" cy="457200"/>
          </a:xfrm>
          <a:prstGeom prst="rect">
            <a:avLst/>
          </a:prstGeom>
          <a:noFill/>
          <a:ln/>
        </p:spPr>
        <p:txBody>
          <a:bodyPr wrap="square" lIns="0" tIns="0" rIns="0" bIns="0" rtlCol="0" anchor="ctr"/>
          <a:lstStyle/>
          <a:p>
            <a:pPr marL="0" indent="0" algn="l">
              <a:buNone/>
            </a:pPr>
            <a:r>
              <a:rPr lang="en-US" sz="1200" dirty="0">
                <a:latin typeface="Calibri" pitchFamily="34" charset="0"/>
                <a:ea typeface="Calibri" pitchFamily="34" charset="-122"/>
                <a:cs typeface="Calibri" pitchFamily="34" charset="-120"/>
              </a:rPr>
              <a:t>Core Clinical Features</a:t>
            </a:r>
            <a:endParaRPr lang="en-US" sz="1200" dirty="0"/>
          </a:p>
        </p:txBody>
      </p:sp>
      <p:sp>
        <p:nvSpPr>
          <p:cNvPr id="54" name="Text 30">
            <a:extLst>
              <a:ext uri="{FF2B5EF4-FFF2-40B4-BE49-F238E27FC236}">
                <a16:creationId xmlns:a16="http://schemas.microsoft.com/office/drawing/2014/main" id="{284CB6EE-AB31-A9FC-08A9-5AAB7548810D}"/>
              </a:ext>
            </a:extLst>
          </p:cNvPr>
          <p:cNvSpPr/>
          <p:nvPr/>
        </p:nvSpPr>
        <p:spPr>
          <a:xfrm>
            <a:off x="9444863" y="3738210"/>
            <a:ext cx="2521488" cy="519987"/>
          </a:xfrm>
          <a:prstGeom prst="rect">
            <a:avLst/>
          </a:prstGeom>
          <a:noFill/>
          <a:ln/>
        </p:spPr>
        <p:txBody>
          <a:bodyPr wrap="square" lIns="0" tIns="0" rIns="0" bIns="0" rtlCol="0" anchor="t"/>
          <a:lstStyle/>
          <a:p>
            <a:pPr marL="0" indent="0" algn="l">
              <a:buNone/>
            </a:pPr>
            <a:r>
              <a:rPr lang="en-US" sz="1200" dirty="0">
                <a:solidFill>
                  <a:srgbClr val="0D9488"/>
                </a:solidFill>
                <a:latin typeface="Calibri" pitchFamily="34" charset="0"/>
                <a:ea typeface="Calibri" pitchFamily="34" charset="-122"/>
                <a:cs typeface="Calibri" pitchFamily="34" charset="-120"/>
              </a:rPr>
              <a:t>+9 per </a:t>
            </a:r>
            <a:r>
              <a:rPr lang="en-US" sz="1200" dirty="0" err="1">
                <a:solidFill>
                  <a:srgbClr val="0D9488"/>
                </a:solidFill>
                <a:latin typeface="Calibri" pitchFamily="34" charset="0"/>
                <a:ea typeface="Calibri" pitchFamily="34" charset="-122"/>
                <a:cs typeface="Calibri" pitchFamily="34" charset="-120"/>
              </a:rPr>
              <a:t>neurobehavioural</a:t>
            </a:r>
            <a:r>
              <a:rPr lang="en-US" sz="1200" dirty="0">
                <a:solidFill>
                  <a:srgbClr val="0D9488"/>
                </a:solidFill>
                <a:latin typeface="Calibri" pitchFamily="34" charset="0"/>
                <a:ea typeface="Calibri" pitchFamily="34" charset="-122"/>
                <a:cs typeface="Calibri" pitchFamily="34" charset="-120"/>
              </a:rPr>
              <a:t> /</a:t>
            </a:r>
          </a:p>
          <a:p>
            <a:pPr marL="0" indent="0" algn="l">
              <a:buNone/>
            </a:pPr>
            <a:r>
              <a:rPr lang="en-US" sz="1200" dirty="0">
                <a:solidFill>
                  <a:srgbClr val="0D9488"/>
                </a:solidFill>
                <a:latin typeface="Calibri" pitchFamily="34" charset="0"/>
                <a:ea typeface="Calibri" pitchFamily="34" charset="-122"/>
                <a:cs typeface="Calibri" pitchFamily="34" charset="-120"/>
              </a:rPr>
              <a:t>cognitive / mood impairment</a:t>
            </a:r>
          </a:p>
        </p:txBody>
      </p:sp>
    </p:spTree>
    <p:extLst>
      <p:ext uri="{BB962C8B-B14F-4D97-AF65-F5344CB8AC3E}">
        <p14:creationId xmlns:p14="http://schemas.microsoft.com/office/powerpoint/2010/main" val="15766924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5278">
              <a:schemeClr val="accent2">
                <a:lumMod val="60000"/>
                <a:lumOff val="4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C60C545-0B13-1458-9D20-CA16959DCAE3}"/>
            </a:ext>
          </a:extLst>
        </p:cNvPr>
        <p:cNvGrpSpPr/>
        <p:nvPr/>
      </p:nvGrpSpPr>
      <p:grpSpPr>
        <a:xfrm>
          <a:off x="0" y="0"/>
          <a:ext cx="0" cy="0"/>
          <a:chOff x="0" y="0"/>
          <a:chExt cx="0" cy="0"/>
        </a:xfrm>
      </p:grpSpPr>
      <p:sp useBgFill="1">
        <p:nvSpPr>
          <p:cNvPr id="9" name="Text Placeholder 8">
            <a:extLst>
              <a:ext uri="{FF2B5EF4-FFF2-40B4-BE49-F238E27FC236}">
                <a16:creationId xmlns:a16="http://schemas.microsoft.com/office/drawing/2014/main" id="{0B5039A9-9225-1895-24C1-6D6F460407E7}"/>
              </a:ext>
            </a:extLst>
          </p:cNvPr>
          <p:cNvSpPr>
            <a:spLocks noGrp="1"/>
          </p:cNvSpPr>
          <p:nvPr>
            <p:ph type="body" sz="quarter" idx="13"/>
          </p:nvPr>
        </p:nvSpPr>
        <p:spPr>
          <a:xfrm>
            <a:off x="549515" y="413515"/>
            <a:ext cx="8810795" cy="628704"/>
          </a:xfrm>
        </p:spPr>
        <p:txBody>
          <a:bodyPr/>
          <a:lstStyle/>
          <a:p>
            <a:r>
              <a:rPr lang="en-US" sz="4000" b="1" dirty="0">
                <a:solidFill>
                  <a:schemeClr val="accent2">
                    <a:lumMod val="50000"/>
                  </a:schemeClr>
                </a:solidFill>
                <a:latin typeface="Times New Roman" panose="02020603050405020304" pitchFamily="18" charset="0"/>
                <a:cs typeface="Times New Roman" panose="02020603050405020304" pitchFamily="18" charset="0"/>
              </a:rPr>
              <a:t>Automated Test Suites - 51 Tests</a:t>
            </a:r>
            <a:endParaRPr lang="en-IN" sz="40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7" name="Shape 4">
            <a:extLst>
              <a:ext uri="{FF2B5EF4-FFF2-40B4-BE49-F238E27FC236}">
                <a16:creationId xmlns:a16="http://schemas.microsoft.com/office/drawing/2014/main" id="{7993A526-55A9-4848-FE3D-CA44BDC44450}"/>
              </a:ext>
            </a:extLst>
          </p:cNvPr>
          <p:cNvSpPr/>
          <p:nvPr/>
        </p:nvSpPr>
        <p:spPr>
          <a:xfrm>
            <a:off x="650748" y="1525134"/>
            <a:ext cx="4894646" cy="4236565"/>
          </a:xfrm>
          <a:prstGeom prst="rect">
            <a:avLst/>
          </a:prstGeom>
          <a:solidFill>
            <a:schemeClr val="bg1">
              <a:lumMod val="95000"/>
            </a:schemeClr>
          </a:solidFill>
          <a:ln w="19050">
            <a:solidFill>
              <a:schemeClr val="accent2">
                <a:lumMod val="75000"/>
              </a:schemeClr>
            </a:solidFill>
            <a:prstDash val="solid"/>
          </a:ln>
          <a:effectLst>
            <a:outerShdw blurRad="101600" dist="38100" dir="8100000" algn="bl" rotWithShape="0">
              <a:srgbClr val="064E3B">
                <a:alpha val="15000"/>
              </a:srgbClr>
            </a:outerShdw>
          </a:effectLst>
        </p:spPr>
        <p:txBody>
          <a:bodyPr/>
          <a:lstStyle/>
          <a:p>
            <a:endParaRPr lang="en-IN"/>
          </a:p>
        </p:txBody>
      </p:sp>
      <p:sp>
        <p:nvSpPr>
          <p:cNvPr id="8" name="Text 5">
            <a:extLst>
              <a:ext uri="{FF2B5EF4-FFF2-40B4-BE49-F238E27FC236}">
                <a16:creationId xmlns:a16="http://schemas.microsoft.com/office/drawing/2014/main" id="{04CD3E01-566E-A85C-D4AE-24873CF65AA1}"/>
              </a:ext>
            </a:extLst>
          </p:cNvPr>
          <p:cNvSpPr/>
          <p:nvPr/>
        </p:nvSpPr>
        <p:spPr>
          <a:xfrm>
            <a:off x="975360" y="1879599"/>
            <a:ext cx="1005840" cy="868680"/>
          </a:xfrm>
          <a:prstGeom prst="rect">
            <a:avLst/>
          </a:prstGeom>
          <a:noFill/>
          <a:ln/>
        </p:spPr>
        <p:txBody>
          <a:bodyPr wrap="square" lIns="0" tIns="0" rIns="0" bIns="0" rtlCol="0" anchor="ctr"/>
          <a:lstStyle/>
          <a:p>
            <a:pPr marL="0" indent="0" algn="l">
              <a:buNone/>
            </a:pPr>
            <a:r>
              <a:rPr lang="en-US" sz="5600" b="1" dirty="0">
                <a:solidFill>
                  <a:schemeClr val="accent2">
                    <a:lumMod val="75000"/>
                  </a:schemeClr>
                </a:solidFill>
                <a:latin typeface="Times New Roman" panose="02020603050405020304" pitchFamily="18" charset="0"/>
                <a:ea typeface="Georgia" pitchFamily="34" charset="-122"/>
                <a:cs typeface="Times New Roman" panose="02020603050405020304" pitchFamily="18" charset="0"/>
              </a:rPr>
              <a:t>30</a:t>
            </a:r>
            <a:endParaRPr lang="en-US" sz="56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11" name="Text 6">
            <a:extLst>
              <a:ext uri="{FF2B5EF4-FFF2-40B4-BE49-F238E27FC236}">
                <a16:creationId xmlns:a16="http://schemas.microsoft.com/office/drawing/2014/main" id="{AA3C5744-C599-2EA3-235E-E4B0D09D0B6B}"/>
              </a:ext>
            </a:extLst>
          </p:cNvPr>
          <p:cNvSpPr/>
          <p:nvPr/>
        </p:nvSpPr>
        <p:spPr>
          <a:xfrm>
            <a:off x="1844038" y="2267515"/>
            <a:ext cx="1188720" cy="347472"/>
          </a:xfrm>
          <a:prstGeom prst="rect">
            <a:avLst/>
          </a:prstGeom>
          <a:noFill/>
          <a:ln/>
        </p:spPr>
        <p:txBody>
          <a:bodyPr wrap="square" lIns="0" tIns="0" rIns="0" bIns="0" rtlCol="0" anchor="ctr"/>
          <a:lstStyle/>
          <a:p>
            <a:pPr marL="0" indent="0" algn="l">
              <a:buNone/>
            </a:pPr>
            <a:r>
              <a:rPr lang="en-US" sz="1300" dirty="0">
                <a:solidFill>
                  <a:srgbClr val="94A3B8"/>
                </a:solidFill>
                <a:latin typeface="Times New Roman" panose="02020603050405020304" pitchFamily="18" charset="0"/>
                <a:cs typeface="Times New Roman" panose="02020603050405020304" pitchFamily="18" charset="0"/>
              </a:rPr>
              <a:t>passing</a:t>
            </a:r>
            <a:endParaRPr lang="en-US" sz="1300" dirty="0">
              <a:latin typeface="Times New Roman" panose="02020603050405020304" pitchFamily="18" charset="0"/>
              <a:cs typeface="Times New Roman" panose="02020603050405020304" pitchFamily="18" charset="0"/>
            </a:endParaRPr>
          </a:p>
        </p:txBody>
      </p:sp>
      <p:sp>
        <p:nvSpPr>
          <p:cNvPr id="12" name="Text 7">
            <a:extLst>
              <a:ext uri="{FF2B5EF4-FFF2-40B4-BE49-F238E27FC236}">
                <a16:creationId xmlns:a16="http://schemas.microsoft.com/office/drawing/2014/main" id="{AE1B1467-D74C-24B0-93F5-55F13125D09F}"/>
              </a:ext>
            </a:extLst>
          </p:cNvPr>
          <p:cNvSpPr/>
          <p:nvPr/>
        </p:nvSpPr>
        <p:spPr>
          <a:xfrm>
            <a:off x="975360" y="2788723"/>
            <a:ext cx="3749040" cy="347472"/>
          </a:xfrm>
          <a:prstGeom prst="rect">
            <a:avLst/>
          </a:prstGeom>
          <a:noFill/>
          <a:ln/>
        </p:spPr>
        <p:txBody>
          <a:bodyPr wrap="square" lIns="0" tIns="0" rIns="0" bIns="0" rtlCol="0" anchor="ctr"/>
          <a:lstStyle/>
          <a:p>
            <a:pPr marL="0" indent="0" algn="l">
              <a:buNone/>
            </a:pPr>
            <a:r>
              <a:rPr lang="en-US" sz="1350" b="1" dirty="0">
                <a:solidFill>
                  <a:schemeClr val="accent2">
                    <a:lumMod val="75000"/>
                  </a:schemeClr>
                </a:solidFill>
                <a:latin typeface="Times New Roman" panose="02020603050405020304" pitchFamily="18" charset="0"/>
                <a:ea typeface="Calibri" pitchFamily="34" charset="-122"/>
                <a:cs typeface="Times New Roman" panose="02020603050405020304" pitchFamily="18" charset="0"/>
              </a:rPr>
              <a:t>API / Backend Tests</a:t>
            </a:r>
            <a:endParaRPr lang="en-US" sz="135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13" name="Text 8">
            <a:extLst>
              <a:ext uri="{FF2B5EF4-FFF2-40B4-BE49-F238E27FC236}">
                <a16:creationId xmlns:a16="http://schemas.microsoft.com/office/drawing/2014/main" id="{26E6CC63-705A-52DE-ACE8-357CE9088EE7}"/>
              </a:ext>
            </a:extLst>
          </p:cNvPr>
          <p:cNvSpPr/>
          <p:nvPr/>
        </p:nvSpPr>
        <p:spPr>
          <a:xfrm>
            <a:off x="975360" y="3231194"/>
            <a:ext cx="3749040" cy="274320"/>
          </a:xfrm>
          <a:prstGeom prst="rect">
            <a:avLst/>
          </a:prstGeom>
          <a:noFill/>
          <a:ln/>
        </p:spPr>
        <p:txBody>
          <a:bodyPr wrap="square" lIns="0" tIns="0" rIns="0" bIns="0" rtlCol="0" anchor="ctr"/>
          <a:lstStyle/>
          <a:p>
            <a:pPr marL="0" indent="0" algn="l">
              <a:buNone/>
            </a:pPr>
            <a:r>
              <a:rPr lang="en-US" sz="1050" dirty="0">
                <a:solidFill>
                  <a:schemeClr val="accent2">
                    <a:lumMod val="75000"/>
                  </a:schemeClr>
                </a:solidFill>
                <a:latin typeface="Times New Roman" panose="02020603050405020304" pitchFamily="18" charset="0"/>
                <a:cs typeface="Times New Roman" panose="02020603050405020304" pitchFamily="18" charset="0"/>
              </a:rPr>
              <a:t>53 seconds · 8 parallel workers</a:t>
            </a:r>
          </a:p>
        </p:txBody>
      </p:sp>
      <p:sp>
        <p:nvSpPr>
          <p:cNvPr id="14" name="Shape 9">
            <a:extLst>
              <a:ext uri="{FF2B5EF4-FFF2-40B4-BE49-F238E27FC236}">
                <a16:creationId xmlns:a16="http://schemas.microsoft.com/office/drawing/2014/main" id="{EDC1D9D6-FA22-079B-0BAA-EBE6624481B5}"/>
              </a:ext>
            </a:extLst>
          </p:cNvPr>
          <p:cNvSpPr/>
          <p:nvPr/>
        </p:nvSpPr>
        <p:spPr>
          <a:xfrm>
            <a:off x="975360" y="3611683"/>
            <a:ext cx="3657600" cy="0"/>
          </a:xfrm>
          <a:prstGeom prst="line">
            <a:avLst/>
          </a:prstGeom>
          <a:noFill/>
          <a:ln w="10160">
            <a:solidFill>
              <a:srgbClr val="002060"/>
            </a:solidFill>
            <a:prstDash val="solid"/>
          </a:ln>
        </p:spPr>
        <p:txBody>
          <a:bodyPr/>
          <a:lstStyle/>
          <a:p>
            <a:endParaRPr lang="en-IN"/>
          </a:p>
        </p:txBody>
      </p:sp>
      <p:sp>
        <p:nvSpPr>
          <p:cNvPr id="15" name="Text 10">
            <a:extLst>
              <a:ext uri="{FF2B5EF4-FFF2-40B4-BE49-F238E27FC236}">
                <a16:creationId xmlns:a16="http://schemas.microsoft.com/office/drawing/2014/main" id="{74FA2F30-06DE-FA42-DCA3-AA6FE53203BA}"/>
              </a:ext>
            </a:extLst>
          </p:cNvPr>
          <p:cNvSpPr/>
          <p:nvPr/>
        </p:nvSpPr>
        <p:spPr>
          <a:xfrm>
            <a:off x="975360" y="3750594"/>
            <a:ext cx="3886200" cy="310896"/>
          </a:xfrm>
          <a:prstGeom prst="rect">
            <a:avLst/>
          </a:prstGeom>
          <a:noFill/>
          <a:ln/>
        </p:spPr>
        <p:txBody>
          <a:bodyPr wrap="square" lIns="0" tIns="0" rIns="0" bIns="0" rtlCol="0" anchor="ctr"/>
          <a:lstStyle/>
          <a:p>
            <a:pPr marL="0" indent="0" algn="l">
              <a:buNone/>
            </a:pPr>
            <a:r>
              <a:rPr lang="en-US" sz="1100" b="1" dirty="0">
                <a:solidFill>
                  <a:schemeClr val="accent2">
                    <a:lumMod val="75000"/>
                  </a:schemeClr>
                </a:solidFill>
                <a:latin typeface="Calibri" pitchFamily="34" charset="0"/>
                <a:ea typeface="Calibri" pitchFamily="34" charset="-122"/>
                <a:cs typeface="Calibri" pitchFamily="34" charset="-120"/>
              </a:rPr>
              <a:t>✓  </a:t>
            </a:r>
            <a:r>
              <a:rPr lang="en-US" sz="1100" dirty="0">
                <a:solidFill>
                  <a:schemeClr val="accent2">
                    <a:lumMod val="75000"/>
                  </a:schemeClr>
                </a:solidFill>
                <a:latin typeface="Calibri" pitchFamily="34" charset="0"/>
                <a:ea typeface="Calibri" pitchFamily="34" charset="-122"/>
                <a:cs typeface="Calibri" pitchFamily="34" charset="-120"/>
              </a:rPr>
              <a:t>Auth: login/profile, wrong creds → 401</a:t>
            </a:r>
            <a:endParaRPr lang="en-US" sz="1100" dirty="0">
              <a:solidFill>
                <a:schemeClr val="accent2">
                  <a:lumMod val="75000"/>
                </a:schemeClr>
              </a:solidFill>
            </a:endParaRPr>
          </a:p>
        </p:txBody>
      </p:sp>
      <p:sp>
        <p:nvSpPr>
          <p:cNvPr id="16" name="Text 11">
            <a:extLst>
              <a:ext uri="{FF2B5EF4-FFF2-40B4-BE49-F238E27FC236}">
                <a16:creationId xmlns:a16="http://schemas.microsoft.com/office/drawing/2014/main" id="{348EA79A-F7D7-5194-CC8D-040FD3F10481}"/>
              </a:ext>
            </a:extLst>
          </p:cNvPr>
          <p:cNvSpPr/>
          <p:nvPr/>
        </p:nvSpPr>
        <p:spPr>
          <a:xfrm>
            <a:off x="975360" y="4061490"/>
            <a:ext cx="3886200" cy="310896"/>
          </a:xfrm>
          <a:prstGeom prst="rect">
            <a:avLst/>
          </a:prstGeom>
          <a:noFill/>
          <a:ln/>
        </p:spPr>
        <p:txBody>
          <a:bodyPr wrap="square" lIns="0" tIns="0" rIns="0" bIns="0" rtlCol="0" anchor="ctr"/>
          <a:lstStyle/>
          <a:p>
            <a:pPr marL="0" indent="0" algn="l">
              <a:buNone/>
            </a:pPr>
            <a:r>
              <a:rPr lang="en-US" sz="1100" b="1" dirty="0">
                <a:solidFill>
                  <a:schemeClr val="accent2">
                    <a:lumMod val="75000"/>
                  </a:schemeClr>
                </a:solidFill>
                <a:latin typeface="Calibri" pitchFamily="34" charset="0"/>
                <a:ea typeface="Calibri" pitchFamily="34" charset="-122"/>
                <a:cs typeface="Calibri" pitchFamily="34" charset="-120"/>
              </a:rPr>
              <a:t>✓  </a:t>
            </a:r>
            <a:r>
              <a:rPr lang="en-US" sz="1100" dirty="0">
                <a:solidFill>
                  <a:schemeClr val="accent2">
                    <a:lumMod val="75000"/>
                  </a:schemeClr>
                </a:solidFill>
                <a:latin typeface="Calibri" pitchFamily="34" charset="0"/>
                <a:ea typeface="Calibri" pitchFamily="34" charset="-122"/>
                <a:cs typeface="Calibri" pitchFamily="34" charset="-120"/>
              </a:rPr>
              <a:t>Insights: eligibility, major symptoms, daily score</a:t>
            </a:r>
            <a:endParaRPr lang="en-US" sz="1100" dirty="0">
              <a:solidFill>
                <a:schemeClr val="accent2">
                  <a:lumMod val="75000"/>
                </a:schemeClr>
              </a:solidFill>
            </a:endParaRPr>
          </a:p>
        </p:txBody>
      </p:sp>
      <p:sp>
        <p:nvSpPr>
          <p:cNvPr id="17" name="Text 12">
            <a:extLst>
              <a:ext uri="{FF2B5EF4-FFF2-40B4-BE49-F238E27FC236}">
                <a16:creationId xmlns:a16="http://schemas.microsoft.com/office/drawing/2014/main" id="{6232C46A-EB29-3483-30C8-C7A1E2EE328A}"/>
              </a:ext>
            </a:extLst>
          </p:cNvPr>
          <p:cNvSpPr/>
          <p:nvPr/>
        </p:nvSpPr>
        <p:spPr>
          <a:xfrm>
            <a:off x="975360" y="4366467"/>
            <a:ext cx="3886200" cy="310896"/>
          </a:xfrm>
          <a:prstGeom prst="rect">
            <a:avLst/>
          </a:prstGeom>
          <a:noFill/>
          <a:ln/>
        </p:spPr>
        <p:txBody>
          <a:bodyPr wrap="square" lIns="0" tIns="0" rIns="0" bIns="0" rtlCol="0" anchor="ctr"/>
          <a:lstStyle/>
          <a:p>
            <a:pPr marL="0" indent="0" algn="l">
              <a:buNone/>
            </a:pPr>
            <a:r>
              <a:rPr lang="en-US" sz="1100" b="1" dirty="0">
                <a:solidFill>
                  <a:schemeClr val="accent2">
                    <a:lumMod val="75000"/>
                  </a:schemeClr>
                </a:solidFill>
                <a:latin typeface="Calibri" pitchFamily="34" charset="0"/>
                <a:ea typeface="Calibri" pitchFamily="34" charset="-122"/>
                <a:cs typeface="Calibri" pitchFamily="34" charset="-120"/>
              </a:rPr>
              <a:t>✓  </a:t>
            </a:r>
            <a:r>
              <a:rPr lang="en-US" sz="1100" dirty="0">
                <a:solidFill>
                  <a:schemeClr val="accent2">
                    <a:lumMod val="75000"/>
                  </a:schemeClr>
                </a:solidFill>
                <a:latin typeface="Calibri" pitchFamily="34" charset="0"/>
                <a:ea typeface="Calibri" pitchFamily="34" charset="-122"/>
                <a:cs typeface="Calibri" pitchFamily="34" charset="-120"/>
              </a:rPr>
              <a:t>Logs: carer accessor, missing fields → 400</a:t>
            </a:r>
            <a:endParaRPr lang="en-US" sz="1100" dirty="0">
              <a:solidFill>
                <a:schemeClr val="accent2">
                  <a:lumMod val="75000"/>
                </a:schemeClr>
              </a:solidFill>
            </a:endParaRPr>
          </a:p>
        </p:txBody>
      </p:sp>
      <p:sp>
        <p:nvSpPr>
          <p:cNvPr id="18" name="Text 13">
            <a:extLst>
              <a:ext uri="{FF2B5EF4-FFF2-40B4-BE49-F238E27FC236}">
                <a16:creationId xmlns:a16="http://schemas.microsoft.com/office/drawing/2014/main" id="{57B2CEC9-AEF2-108D-F08F-F20E42AE3E64}"/>
              </a:ext>
            </a:extLst>
          </p:cNvPr>
          <p:cNvSpPr/>
          <p:nvPr/>
        </p:nvSpPr>
        <p:spPr>
          <a:xfrm>
            <a:off x="975360" y="4675889"/>
            <a:ext cx="3886200" cy="310896"/>
          </a:xfrm>
          <a:prstGeom prst="rect">
            <a:avLst/>
          </a:prstGeom>
          <a:noFill/>
          <a:ln/>
        </p:spPr>
        <p:txBody>
          <a:bodyPr wrap="square" lIns="0" tIns="0" rIns="0" bIns="0" rtlCol="0" anchor="ctr"/>
          <a:lstStyle/>
          <a:p>
            <a:pPr marL="0" indent="0" algn="l">
              <a:buNone/>
            </a:pPr>
            <a:r>
              <a:rPr lang="en-US" sz="1100" b="1" dirty="0">
                <a:solidFill>
                  <a:schemeClr val="accent2">
                    <a:lumMod val="75000"/>
                  </a:schemeClr>
                </a:solidFill>
                <a:latin typeface="Calibri" pitchFamily="34" charset="0"/>
                <a:ea typeface="Calibri" pitchFamily="34" charset="-122"/>
                <a:cs typeface="Calibri" pitchFamily="34" charset="-120"/>
              </a:rPr>
              <a:t>✓  </a:t>
            </a:r>
            <a:r>
              <a:rPr lang="en-US" sz="1100" dirty="0">
                <a:solidFill>
                  <a:schemeClr val="accent2">
                    <a:lumMod val="75000"/>
                  </a:schemeClr>
                </a:solidFill>
                <a:latin typeface="Calibri" pitchFamily="34" charset="0"/>
                <a:ea typeface="Calibri" pitchFamily="34" charset="-122"/>
                <a:cs typeface="Calibri" pitchFamily="34" charset="-120"/>
              </a:rPr>
              <a:t>Chat: threads, contacts, direct messages</a:t>
            </a:r>
            <a:endParaRPr lang="en-US" sz="1100" dirty="0">
              <a:solidFill>
                <a:schemeClr val="accent2">
                  <a:lumMod val="75000"/>
                </a:schemeClr>
              </a:solidFill>
            </a:endParaRPr>
          </a:p>
        </p:txBody>
      </p:sp>
      <p:sp>
        <p:nvSpPr>
          <p:cNvPr id="19" name="Text 14">
            <a:extLst>
              <a:ext uri="{FF2B5EF4-FFF2-40B4-BE49-F238E27FC236}">
                <a16:creationId xmlns:a16="http://schemas.microsoft.com/office/drawing/2014/main" id="{D70882B4-B580-0AEB-4A41-B3ADE81D579F}"/>
              </a:ext>
            </a:extLst>
          </p:cNvPr>
          <p:cNvSpPr/>
          <p:nvPr/>
        </p:nvSpPr>
        <p:spPr>
          <a:xfrm>
            <a:off x="975360" y="4983276"/>
            <a:ext cx="3886200" cy="310896"/>
          </a:xfrm>
          <a:prstGeom prst="rect">
            <a:avLst/>
          </a:prstGeom>
          <a:noFill/>
          <a:ln/>
        </p:spPr>
        <p:txBody>
          <a:bodyPr wrap="square" lIns="0" tIns="0" rIns="0" bIns="0" rtlCol="0" anchor="ctr"/>
          <a:lstStyle/>
          <a:p>
            <a:pPr marL="0" indent="0" algn="l">
              <a:buNone/>
            </a:pPr>
            <a:r>
              <a:rPr lang="en-US" sz="1100" b="1" dirty="0">
                <a:solidFill>
                  <a:schemeClr val="accent2">
                    <a:lumMod val="75000"/>
                  </a:schemeClr>
                </a:solidFill>
                <a:latin typeface="Calibri" pitchFamily="34" charset="0"/>
                <a:ea typeface="Calibri" pitchFamily="34" charset="-122"/>
                <a:cs typeface="Calibri" pitchFamily="34" charset="-120"/>
              </a:rPr>
              <a:t>✓  </a:t>
            </a:r>
            <a:r>
              <a:rPr lang="en-US" sz="1100" dirty="0">
                <a:solidFill>
                  <a:schemeClr val="accent2">
                    <a:lumMod val="75000"/>
                  </a:schemeClr>
                </a:solidFill>
                <a:latin typeface="Calibri" pitchFamily="34" charset="0"/>
                <a:ea typeface="Calibri" pitchFamily="34" charset="-122"/>
                <a:cs typeface="Calibri" pitchFamily="34" charset="-120"/>
              </a:rPr>
              <a:t>Settings: carer PATCH, permission boundary</a:t>
            </a:r>
            <a:endParaRPr lang="en-US" sz="1100" dirty="0">
              <a:solidFill>
                <a:schemeClr val="accent2">
                  <a:lumMod val="75000"/>
                </a:schemeClr>
              </a:solidFill>
            </a:endParaRPr>
          </a:p>
        </p:txBody>
      </p:sp>
      <p:sp>
        <p:nvSpPr>
          <p:cNvPr id="20" name="Shape 15">
            <a:extLst>
              <a:ext uri="{FF2B5EF4-FFF2-40B4-BE49-F238E27FC236}">
                <a16:creationId xmlns:a16="http://schemas.microsoft.com/office/drawing/2014/main" id="{5A4C153D-A2EF-1ACB-CB9B-0BEED45A7CFE}"/>
              </a:ext>
            </a:extLst>
          </p:cNvPr>
          <p:cNvSpPr/>
          <p:nvPr/>
        </p:nvSpPr>
        <p:spPr>
          <a:xfrm>
            <a:off x="6095998" y="1525134"/>
            <a:ext cx="4894645" cy="4236565"/>
          </a:xfrm>
          <a:prstGeom prst="rect">
            <a:avLst/>
          </a:prstGeom>
          <a:solidFill>
            <a:schemeClr val="accent2">
              <a:lumMod val="75000"/>
            </a:schemeClr>
          </a:solidFill>
          <a:ln w="19050">
            <a:solidFill>
              <a:srgbClr val="10B981"/>
            </a:solidFill>
            <a:prstDash val="solid"/>
          </a:ln>
          <a:effectLst>
            <a:outerShdw blurRad="101600" dist="38100" dir="8100000" algn="bl" rotWithShape="0">
              <a:srgbClr val="064E3B">
                <a:alpha val="15000"/>
              </a:srgbClr>
            </a:outerShdw>
          </a:effectLst>
        </p:spPr>
        <p:txBody>
          <a:bodyPr/>
          <a:lstStyle/>
          <a:p>
            <a:endParaRPr lang="en-IN"/>
          </a:p>
        </p:txBody>
      </p:sp>
      <p:sp>
        <p:nvSpPr>
          <p:cNvPr id="21" name="Text 16">
            <a:extLst>
              <a:ext uri="{FF2B5EF4-FFF2-40B4-BE49-F238E27FC236}">
                <a16:creationId xmlns:a16="http://schemas.microsoft.com/office/drawing/2014/main" id="{0317B87E-EF5C-6C45-20A1-4FFF94B837F8}"/>
              </a:ext>
            </a:extLst>
          </p:cNvPr>
          <p:cNvSpPr/>
          <p:nvPr/>
        </p:nvSpPr>
        <p:spPr>
          <a:xfrm>
            <a:off x="6416040" y="1810315"/>
            <a:ext cx="1005840" cy="868680"/>
          </a:xfrm>
          <a:prstGeom prst="rect">
            <a:avLst/>
          </a:prstGeom>
          <a:noFill/>
          <a:ln/>
        </p:spPr>
        <p:txBody>
          <a:bodyPr wrap="square" lIns="0" tIns="0" rIns="0" bIns="0" rtlCol="0" anchor="ctr"/>
          <a:lstStyle/>
          <a:p>
            <a:pPr marL="0" indent="0" algn="l">
              <a:buNone/>
            </a:pPr>
            <a:r>
              <a:rPr lang="en-US" sz="5600" b="1" dirty="0">
                <a:solidFill>
                  <a:srgbClr val="10B981"/>
                </a:solidFill>
                <a:latin typeface="Georgia" pitchFamily="34" charset="0"/>
                <a:ea typeface="Georgia" pitchFamily="34" charset="-122"/>
                <a:cs typeface="Georgia" pitchFamily="34" charset="-120"/>
              </a:rPr>
              <a:t>21</a:t>
            </a:r>
            <a:endParaRPr lang="en-US" sz="5600" dirty="0"/>
          </a:p>
        </p:txBody>
      </p:sp>
      <p:sp>
        <p:nvSpPr>
          <p:cNvPr id="22" name="Text 17">
            <a:extLst>
              <a:ext uri="{FF2B5EF4-FFF2-40B4-BE49-F238E27FC236}">
                <a16:creationId xmlns:a16="http://schemas.microsoft.com/office/drawing/2014/main" id="{36E907C7-2232-413C-117A-5915BEC623D3}"/>
              </a:ext>
            </a:extLst>
          </p:cNvPr>
          <p:cNvSpPr/>
          <p:nvPr/>
        </p:nvSpPr>
        <p:spPr>
          <a:xfrm>
            <a:off x="7467600" y="2267515"/>
            <a:ext cx="1188720" cy="347472"/>
          </a:xfrm>
          <a:prstGeom prst="rect">
            <a:avLst/>
          </a:prstGeom>
          <a:noFill/>
          <a:ln/>
        </p:spPr>
        <p:txBody>
          <a:bodyPr wrap="square" lIns="0" tIns="0" rIns="0" bIns="0" rtlCol="0" anchor="ctr"/>
          <a:lstStyle/>
          <a:p>
            <a:pPr marL="0" indent="0" algn="l">
              <a:buNone/>
            </a:pPr>
            <a:r>
              <a:rPr lang="en-US" sz="1300" dirty="0">
                <a:solidFill>
                  <a:srgbClr val="94A3B8"/>
                </a:solidFill>
              </a:rPr>
              <a:t>passing</a:t>
            </a:r>
            <a:endParaRPr lang="en-US" sz="1300" dirty="0"/>
          </a:p>
        </p:txBody>
      </p:sp>
      <p:sp>
        <p:nvSpPr>
          <p:cNvPr id="23" name="Text 18">
            <a:extLst>
              <a:ext uri="{FF2B5EF4-FFF2-40B4-BE49-F238E27FC236}">
                <a16:creationId xmlns:a16="http://schemas.microsoft.com/office/drawing/2014/main" id="{84F28D55-2641-DAD3-CE6E-D4F14B36D501}"/>
              </a:ext>
            </a:extLst>
          </p:cNvPr>
          <p:cNvSpPr/>
          <p:nvPr/>
        </p:nvSpPr>
        <p:spPr>
          <a:xfrm>
            <a:off x="6416040" y="2770435"/>
            <a:ext cx="3749040" cy="347472"/>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E2E Frontend Tests</a:t>
            </a:r>
            <a:endParaRPr lang="en-US" sz="1350" dirty="0"/>
          </a:p>
        </p:txBody>
      </p:sp>
      <p:sp>
        <p:nvSpPr>
          <p:cNvPr id="24" name="Text 19">
            <a:extLst>
              <a:ext uri="{FF2B5EF4-FFF2-40B4-BE49-F238E27FC236}">
                <a16:creationId xmlns:a16="http://schemas.microsoft.com/office/drawing/2014/main" id="{3503E381-5BC0-A648-A1AB-8D4B468F9269}"/>
              </a:ext>
            </a:extLst>
          </p:cNvPr>
          <p:cNvSpPr/>
          <p:nvPr/>
        </p:nvSpPr>
        <p:spPr>
          <a:xfrm>
            <a:off x="6416040" y="3154483"/>
            <a:ext cx="3749040" cy="274320"/>
          </a:xfrm>
          <a:prstGeom prst="rect">
            <a:avLst/>
          </a:prstGeom>
          <a:noFill/>
          <a:ln/>
        </p:spPr>
        <p:txBody>
          <a:bodyPr wrap="square" lIns="0" tIns="0" rIns="0" bIns="0" rtlCol="0" anchor="ctr"/>
          <a:lstStyle/>
          <a:p>
            <a:pPr marL="0" indent="0" algn="l">
              <a:buNone/>
            </a:pPr>
            <a:r>
              <a:rPr lang="en-US" sz="1050" dirty="0">
                <a:solidFill>
                  <a:srgbClr val="6EE7B7"/>
                </a:solidFill>
              </a:rPr>
              <a:t>2.2 minutes · Chromium · Playwright Trace</a:t>
            </a:r>
            <a:endParaRPr lang="en-US" sz="1050" dirty="0"/>
          </a:p>
        </p:txBody>
      </p:sp>
      <p:sp>
        <p:nvSpPr>
          <p:cNvPr id="25" name="Shape 20">
            <a:extLst>
              <a:ext uri="{FF2B5EF4-FFF2-40B4-BE49-F238E27FC236}">
                <a16:creationId xmlns:a16="http://schemas.microsoft.com/office/drawing/2014/main" id="{E1F98F8B-DE74-5E63-E6C4-3F8A9A3553C0}"/>
              </a:ext>
            </a:extLst>
          </p:cNvPr>
          <p:cNvSpPr/>
          <p:nvPr/>
        </p:nvSpPr>
        <p:spPr>
          <a:xfrm>
            <a:off x="6416040" y="3501955"/>
            <a:ext cx="3657600" cy="0"/>
          </a:xfrm>
          <a:prstGeom prst="line">
            <a:avLst/>
          </a:prstGeom>
          <a:noFill/>
          <a:ln w="10160">
            <a:solidFill>
              <a:srgbClr val="10B981"/>
            </a:solidFill>
            <a:prstDash val="solid"/>
          </a:ln>
        </p:spPr>
        <p:txBody>
          <a:bodyPr/>
          <a:lstStyle/>
          <a:p>
            <a:endParaRPr lang="en-IN"/>
          </a:p>
        </p:txBody>
      </p:sp>
      <p:sp>
        <p:nvSpPr>
          <p:cNvPr id="26" name="Text 21">
            <a:extLst>
              <a:ext uri="{FF2B5EF4-FFF2-40B4-BE49-F238E27FC236}">
                <a16:creationId xmlns:a16="http://schemas.microsoft.com/office/drawing/2014/main" id="{C07C2B28-5B77-8BDE-51F6-BD6AE63DF876}"/>
              </a:ext>
            </a:extLst>
          </p:cNvPr>
          <p:cNvSpPr/>
          <p:nvPr/>
        </p:nvSpPr>
        <p:spPr>
          <a:xfrm>
            <a:off x="6416040" y="3611683"/>
            <a:ext cx="3886200" cy="310896"/>
          </a:xfrm>
          <a:prstGeom prst="rect">
            <a:avLst/>
          </a:prstGeom>
          <a:noFill/>
          <a:ln/>
        </p:spPr>
        <p:txBody>
          <a:bodyPr wrap="square" lIns="0" tIns="0" rIns="0" bIns="0" rtlCol="0" anchor="ctr"/>
          <a:lstStyle/>
          <a:p>
            <a:pPr marL="0" indent="0" algn="l">
              <a:buNone/>
            </a:pPr>
            <a:r>
              <a:rPr lang="en-US" sz="1100" b="1" dirty="0">
                <a:solidFill>
                  <a:srgbClr val="10B981"/>
                </a:solidFill>
                <a:latin typeface="Calibri" pitchFamily="34" charset="0"/>
                <a:ea typeface="Calibri" pitchFamily="34" charset="-122"/>
                <a:cs typeface="Calibri" pitchFamily="34" charset="-120"/>
              </a:rPr>
              <a:t>✓  </a:t>
            </a:r>
            <a:r>
              <a:rPr lang="en-US" sz="1100" dirty="0">
                <a:solidFill>
                  <a:srgbClr val="6EE7B7"/>
                </a:solidFill>
                <a:latin typeface="Calibri" pitchFamily="34" charset="0"/>
                <a:ea typeface="Calibri" pitchFamily="34" charset="-122"/>
                <a:cs typeface="Calibri" pitchFamily="34" charset="-120"/>
              </a:rPr>
              <a:t>Auth: sign-in, wrong password, sign-out</a:t>
            </a:r>
            <a:endParaRPr lang="en-US" sz="1100" dirty="0"/>
          </a:p>
        </p:txBody>
      </p:sp>
      <p:sp>
        <p:nvSpPr>
          <p:cNvPr id="27" name="Text 22">
            <a:extLst>
              <a:ext uri="{FF2B5EF4-FFF2-40B4-BE49-F238E27FC236}">
                <a16:creationId xmlns:a16="http://schemas.microsoft.com/office/drawing/2014/main" id="{EE14660A-A635-D36C-D38E-75339E6ED043}"/>
              </a:ext>
            </a:extLst>
          </p:cNvPr>
          <p:cNvSpPr/>
          <p:nvPr/>
        </p:nvSpPr>
        <p:spPr>
          <a:xfrm>
            <a:off x="6416040" y="3950011"/>
            <a:ext cx="3886200" cy="310896"/>
          </a:xfrm>
          <a:prstGeom prst="rect">
            <a:avLst/>
          </a:prstGeom>
          <a:noFill/>
          <a:ln/>
        </p:spPr>
        <p:txBody>
          <a:bodyPr wrap="square" lIns="0" tIns="0" rIns="0" bIns="0" rtlCol="0" anchor="ctr"/>
          <a:lstStyle/>
          <a:p>
            <a:pPr marL="0" indent="0" algn="l">
              <a:buNone/>
            </a:pPr>
            <a:r>
              <a:rPr lang="en-US" sz="1100" b="1" dirty="0">
                <a:solidFill>
                  <a:srgbClr val="10B981"/>
                </a:solidFill>
                <a:latin typeface="Calibri" pitchFamily="34" charset="0"/>
                <a:ea typeface="Calibri" pitchFamily="34" charset="-122"/>
                <a:cs typeface="Calibri" pitchFamily="34" charset="-120"/>
              </a:rPr>
              <a:t>✓  </a:t>
            </a:r>
            <a:r>
              <a:rPr lang="en-US" sz="1100" dirty="0">
                <a:solidFill>
                  <a:srgbClr val="6EE7B7"/>
                </a:solidFill>
                <a:latin typeface="Calibri" pitchFamily="34" charset="0"/>
                <a:ea typeface="Calibri" pitchFamily="34" charset="-122"/>
                <a:cs typeface="Calibri" pitchFamily="34" charset="-120"/>
              </a:rPr>
              <a:t>Brain Dump: submit entry, empty-entry guard</a:t>
            </a:r>
            <a:endParaRPr lang="en-US" sz="1100" dirty="0"/>
          </a:p>
        </p:txBody>
      </p:sp>
      <p:sp>
        <p:nvSpPr>
          <p:cNvPr id="28" name="Text 23">
            <a:extLst>
              <a:ext uri="{FF2B5EF4-FFF2-40B4-BE49-F238E27FC236}">
                <a16:creationId xmlns:a16="http://schemas.microsoft.com/office/drawing/2014/main" id="{55BB3710-564C-9013-431D-B1A8C05FF61C}"/>
              </a:ext>
            </a:extLst>
          </p:cNvPr>
          <p:cNvSpPr/>
          <p:nvPr/>
        </p:nvSpPr>
        <p:spPr>
          <a:xfrm>
            <a:off x="6416040" y="4288339"/>
            <a:ext cx="3886200" cy="310896"/>
          </a:xfrm>
          <a:prstGeom prst="rect">
            <a:avLst/>
          </a:prstGeom>
          <a:noFill/>
          <a:ln/>
        </p:spPr>
        <p:txBody>
          <a:bodyPr wrap="square" lIns="0" tIns="0" rIns="0" bIns="0" rtlCol="0" anchor="ctr"/>
          <a:lstStyle/>
          <a:p>
            <a:pPr marL="0" indent="0" algn="l">
              <a:buNone/>
            </a:pPr>
            <a:r>
              <a:rPr lang="en-US" sz="1100" b="1" dirty="0">
                <a:solidFill>
                  <a:srgbClr val="10B981"/>
                </a:solidFill>
                <a:latin typeface="Calibri" pitchFamily="34" charset="0"/>
                <a:ea typeface="Calibri" pitchFamily="34" charset="-122"/>
                <a:cs typeface="Calibri" pitchFamily="34" charset="-120"/>
              </a:rPr>
              <a:t>✓  </a:t>
            </a:r>
            <a:r>
              <a:rPr lang="en-US" sz="1100" dirty="0">
                <a:solidFill>
                  <a:srgbClr val="6EE7B7"/>
                </a:solidFill>
                <a:latin typeface="Calibri" pitchFamily="34" charset="0"/>
                <a:ea typeface="Calibri" pitchFamily="34" charset="-122"/>
                <a:cs typeface="Calibri" pitchFamily="34" charset="-120"/>
              </a:rPr>
              <a:t>Care Circle: Discuss thread, direct chat, resolve</a:t>
            </a:r>
            <a:endParaRPr lang="en-US" sz="1100" dirty="0"/>
          </a:p>
        </p:txBody>
      </p:sp>
      <p:sp>
        <p:nvSpPr>
          <p:cNvPr id="29" name="Text 24">
            <a:extLst>
              <a:ext uri="{FF2B5EF4-FFF2-40B4-BE49-F238E27FC236}">
                <a16:creationId xmlns:a16="http://schemas.microsoft.com/office/drawing/2014/main" id="{ED8C0247-4F77-934F-A824-D60AAC87C376}"/>
              </a:ext>
            </a:extLst>
          </p:cNvPr>
          <p:cNvSpPr/>
          <p:nvPr/>
        </p:nvSpPr>
        <p:spPr>
          <a:xfrm>
            <a:off x="6416040" y="4626667"/>
            <a:ext cx="3886200" cy="310896"/>
          </a:xfrm>
          <a:prstGeom prst="rect">
            <a:avLst/>
          </a:prstGeom>
          <a:noFill/>
          <a:ln/>
        </p:spPr>
        <p:txBody>
          <a:bodyPr wrap="square" lIns="0" tIns="0" rIns="0" bIns="0" rtlCol="0" anchor="ctr"/>
          <a:lstStyle/>
          <a:p>
            <a:pPr marL="0" indent="0" algn="l">
              <a:buNone/>
            </a:pPr>
            <a:r>
              <a:rPr lang="en-US" sz="1100" b="1" dirty="0">
                <a:solidFill>
                  <a:srgbClr val="10B981"/>
                </a:solidFill>
                <a:latin typeface="Calibri" pitchFamily="34" charset="0"/>
                <a:ea typeface="Calibri" pitchFamily="34" charset="-122"/>
                <a:cs typeface="Calibri" pitchFamily="34" charset="-120"/>
              </a:rPr>
              <a:t>✓  </a:t>
            </a:r>
            <a:r>
              <a:rPr lang="en-US" sz="1100" dirty="0">
                <a:solidFill>
                  <a:srgbClr val="6EE7B7"/>
                </a:solidFill>
                <a:latin typeface="Calibri" pitchFamily="34" charset="0"/>
                <a:ea typeface="Calibri" pitchFamily="34" charset="-122"/>
                <a:cs typeface="Calibri" pitchFamily="34" charset="-120"/>
              </a:rPr>
              <a:t>Insights: chart range presets, AI reveal</a:t>
            </a:r>
            <a:endParaRPr lang="en-US" sz="1100" dirty="0"/>
          </a:p>
        </p:txBody>
      </p:sp>
      <p:sp>
        <p:nvSpPr>
          <p:cNvPr id="30" name="Text 25">
            <a:extLst>
              <a:ext uri="{FF2B5EF4-FFF2-40B4-BE49-F238E27FC236}">
                <a16:creationId xmlns:a16="http://schemas.microsoft.com/office/drawing/2014/main" id="{44C3AAB8-A9F2-D7FA-C662-C611FD35C132}"/>
              </a:ext>
            </a:extLst>
          </p:cNvPr>
          <p:cNvSpPr/>
          <p:nvPr/>
        </p:nvSpPr>
        <p:spPr>
          <a:xfrm>
            <a:off x="6416040" y="4964995"/>
            <a:ext cx="3886200" cy="310896"/>
          </a:xfrm>
          <a:prstGeom prst="rect">
            <a:avLst/>
          </a:prstGeom>
          <a:noFill/>
          <a:ln/>
        </p:spPr>
        <p:txBody>
          <a:bodyPr wrap="square" lIns="0" tIns="0" rIns="0" bIns="0" rtlCol="0" anchor="ctr"/>
          <a:lstStyle/>
          <a:p>
            <a:pPr marL="0" indent="0" algn="l">
              <a:buNone/>
            </a:pPr>
            <a:r>
              <a:rPr lang="en-US" sz="1100" b="1" dirty="0">
                <a:solidFill>
                  <a:srgbClr val="10B981"/>
                </a:solidFill>
                <a:latin typeface="Calibri" pitchFamily="34" charset="0"/>
                <a:ea typeface="Calibri" pitchFamily="34" charset="-122"/>
                <a:cs typeface="Calibri" pitchFamily="34" charset="-120"/>
              </a:rPr>
              <a:t>✓  </a:t>
            </a:r>
            <a:r>
              <a:rPr lang="en-US" sz="1100" dirty="0">
                <a:solidFill>
                  <a:srgbClr val="6EE7B7"/>
                </a:solidFill>
                <a:latin typeface="Calibri" pitchFamily="34" charset="0"/>
                <a:ea typeface="Calibri" pitchFamily="34" charset="-122"/>
                <a:cs typeface="Calibri" pitchFamily="34" charset="-120"/>
              </a:rPr>
              <a:t>Export: AI PDF download, full Doc-Form multi-step</a:t>
            </a:r>
            <a:endParaRPr lang="en-US" sz="1100" dirty="0"/>
          </a:p>
        </p:txBody>
      </p:sp>
      <p:sp>
        <p:nvSpPr>
          <p:cNvPr id="31" name="Shape 26">
            <a:extLst>
              <a:ext uri="{FF2B5EF4-FFF2-40B4-BE49-F238E27FC236}">
                <a16:creationId xmlns:a16="http://schemas.microsoft.com/office/drawing/2014/main" id="{AB109CBA-9EF8-BA58-9F48-07D1954D9578}"/>
              </a:ext>
            </a:extLst>
          </p:cNvPr>
          <p:cNvSpPr/>
          <p:nvPr/>
        </p:nvSpPr>
        <p:spPr>
          <a:xfrm>
            <a:off x="1152341" y="6149357"/>
            <a:ext cx="8595360" cy="387566"/>
          </a:xfrm>
          <a:prstGeom prst="rect">
            <a:avLst/>
          </a:prstGeom>
          <a:solidFill>
            <a:schemeClr val="accent2">
              <a:lumMod val="50000"/>
              <a:alpha val="15000"/>
            </a:schemeClr>
          </a:solidFill>
          <a:ln w="12700">
            <a:solidFill>
              <a:srgbClr val="002060"/>
            </a:solidFill>
            <a:prstDash val="solid"/>
          </a:ln>
        </p:spPr>
        <p:txBody>
          <a:bodyPr/>
          <a:lstStyle/>
          <a:p>
            <a:endParaRPr lang="en-IN"/>
          </a:p>
        </p:txBody>
      </p:sp>
      <p:sp>
        <p:nvSpPr>
          <p:cNvPr id="32" name="Text 27">
            <a:extLst>
              <a:ext uri="{FF2B5EF4-FFF2-40B4-BE49-F238E27FC236}">
                <a16:creationId xmlns:a16="http://schemas.microsoft.com/office/drawing/2014/main" id="{84E46D83-1FB3-713B-49A0-4EF8579B8C45}"/>
              </a:ext>
            </a:extLst>
          </p:cNvPr>
          <p:cNvSpPr/>
          <p:nvPr/>
        </p:nvSpPr>
        <p:spPr>
          <a:xfrm>
            <a:off x="1152341" y="6186774"/>
            <a:ext cx="8412480" cy="301752"/>
          </a:xfrm>
          <a:prstGeom prst="rect">
            <a:avLst/>
          </a:prstGeom>
          <a:noFill/>
          <a:ln/>
        </p:spPr>
        <p:txBody>
          <a:bodyPr wrap="square" lIns="0" tIns="0" rIns="0" bIns="0" rtlCol="0" anchor="ctr"/>
          <a:lstStyle/>
          <a:p>
            <a:pPr marL="0" indent="0" algn="ctr">
              <a:buNone/>
            </a:pPr>
            <a:r>
              <a:rPr lang="en-US" sz="1400" dirty="0">
                <a:solidFill>
                  <a:schemeClr val="accent2">
                    <a:lumMod val="75000"/>
                  </a:schemeClr>
                </a:solidFill>
              </a:rPr>
              <a:t>51 total passing  | Playwright API + Chromium E2E  |  0 failures  |  Full Trace Viewer logs available</a:t>
            </a:r>
          </a:p>
        </p:txBody>
      </p:sp>
      <p:pic>
        <p:nvPicPr>
          <p:cNvPr id="33" name="Picture 32">
            <a:extLst>
              <a:ext uri="{FF2B5EF4-FFF2-40B4-BE49-F238E27FC236}">
                <a16:creationId xmlns:a16="http://schemas.microsoft.com/office/drawing/2014/main" id="{A1178683-8A16-5BA2-5586-35CC2479D194}"/>
              </a:ext>
            </a:extLst>
          </p:cNvPr>
          <p:cNvPicPr>
            <a:picLocks noChangeAspect="1"/>
          </p:cNvPicPr>
          <p:nvPr/>
        </p:nvPicPr>
        <p:blipFill>
          <a:blip r:embed="rId2"/>
          <a:stretch>
            <a:fillRect/>
          </a:stretch>
        </p:blipFill>
        <p:spPr>
          <a:xfrm>
            <a:off x="10606903" y="-2483"/>
            <a:ext cx="1585097" cy="579170"/>
          </a:xfrm>
          <a:prstGeom prst="rect">
            <a:avLst/>
          </a:prstGeom>
        </p:spPr>
      </p:pic>
    </p:spTree>
    <p:extLst>
      <p:ext uri="{BB962C8B-B14F-4D97-AF65-F5344CB8AC3E}">
        <p14:creationId xmlns:p14="http://schemas.microsoft.com/office/powerpoint/2010/main" val="42539935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55278">
              <a:schemeClr val="accent2">
                <a:lumMod val="60000"/>
                <a:lumOff val="4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A40BAF6-A692-FA82-8B4A-A138D4B5DE39}"/>
            </a:ext>
          </a:extLst>
        </p:cNvPr>
        <p:cNvGrpSpPr/>
        <p:nvPr/>
      </p:nvGrpSpPr>
      <p:grpSpPr>
        <a:xfrm>
          <a:off x="0" y="0"/>
          <a:ext cx="0" cy="0"/>
          <a:chOff x="0" y="0"/>
          <a:chExt cx="0" cy="0"/>
        </a:xfrm>
      </p:grpSpPr>
      <p:sp useBgFill="1">
        <p:nvSpPr>
          <p:cNvPr id="10" name="Text 3">
            <a:extLst>
              <a:ext uri="{FF2B5EF4-FFF2-40B4-BE49-F238E27FC236}">
                <a16:creationId xmlns:a16="http://schemas.microsoft.com/office/drawing/2014/main" id="{4941151A-003A-7302-0D83-9D306B199F03}"/>
              </a:ext>
            </a:extLst>
          </p:cNvPr>
          <p:cNvSpPr/>
          <p:nvPr/>
        </p:nvSpPr>
        <p:spPr>
          <a:xfrm>
            <a:off x="623364" y="514375"/>
            <a:ext cx="8412480" cy="603504"/>
          </a:xfrm>
          <a:prstGeom prst="rect">
            <a:avLst/>
          </a:prstGeom>
          <a:ln/>
        </p:spPr>
        <p:txBody>
          <a:bodyPr wrap="square" lIns="0" tIns="0" rIns="0" bIns="0" rtlCol="0" anchor="ctr"/>
          <a:lstStyle/>
          <a:p>
            <a:pPr marL="0" indent="0" algn="l">
              <a:buNone/>
            </a:pPr>
            <a:r>
              <a:rPr lang="en-US" sz="4000" b="1" dirty="0">
                <a:solidFill>
                  <a:schemeClr val="accent2">
                    <a:lumMod val="50000"/>
                  </a:schemeClr>
                </a:solidFill>
                <a:latin typeface="Times New Roman" panose="02020603050405020304" pitchFamily="18" charset="0"/>
                <a:ea typeface="Georgia" pitchFamily="34" charset="-122"/>
                <a:cs typeface="Times New Roman" panose="02020603050405020304" pitchFamily="18" charset="0"/>
              </a:rPr>
              <a:t>Live Demo &amp; Future Scope</a:t>
            </a:r>
            <a:endParaRPr lang="en-US" sz="40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33" name="Shape 4">
            <a:extLst>
              <a:ext uri="{FF2B5EF4-FFF2-40B4-BE49-F238E27FC236}">
                <a16:creationId xmlns:a16="http://schemas.microsoft.com/office/drawing/2014/main" id="{13ACB9F3-15BB-9230-F8C1-200C17991565}"/>
              </a:ext>
            </a:extLst>
          </p:cNvPr>
          <p:cNvSpPr/>
          <p:nvPr/>
        </p:nvSpPr>
        <p:spPr>
          <a:xfrm>
            <a:off x="623364" y="1356852"/>
            <a:ext cx="5386112" cy="2856271"/>
          </a:xfrm>
          <a:prstGeom prst="rect">
            <a:avLst/>
          </a:prstGeom>
          <a:solidFill>
            <a:srgbClr val="FFFFFF"/>
          </a:solidFill>
          <a:ln w="12700">
            <a:solidFill>
              <a:srgbClr val="BBF7D0"/>
            </a:solidFill>
            <a:prstDash val="solid"/>
          </a:ln>
          <a:effectLst>
            <a:outerShdw blurRad="101600" dist="38100" dir="8100000" algn="bl" rotWithShape="0">
              <a:srgbClr val="064E3B">
                <a:alpha val="15000"/>
              </a:srgbClr>
            </a:outerShdw>
          </a:effectLst>
        </p:spPr>
        <p:txBody>
          <a:bodyPr/>
          <a:lstStyle/>
          <a:p>
            <a:endParaRPr lang="en-IN"/>
          </a:p>
        </p:txBody>
      </p:sp>
      <p:sp>
        <p:nvSpPr>
          <p:cNvPr id="34" name="Shape 5">
            <a:extLst>
              <a:ext uri="{FF2B5EF4-FFF2-40B4-BE49-F238E27FC236}">
                <a16:creationId xmlns:a16="http://schemas.microsoft.com/office/drawing/2014/main" id="{80FE9E95-9F4E-1BA6-E1B7-3B8F99F7BEF8}"/>
              </a:ext>
            </a:extLst>
          </p:cNvPr>
          <p:cNvSpPr/>
          <p:nvPr/>
        </p:nvSpPr>
        <p:spPr>
          <a:xfrm>
            <a:off x="623364" y="1371404"/>
            <a:ext cx="5386112" cy="152596"/>
          </a:xfrm>
          <a:prstGeom prst="rect">
            <a:avLst/>
          </a:prstGeom>
          <a:solidFill>
            <a:srgbClr val="10B981"/>
          </a:solidFill>
          <a:ln w="12700">
            <a:solidFill>
              <a:srgbClr val="10B981"/>
            </a:solidFill>
            <a:prstDash val="solid"/>
          </a:ln>
        </p:spPr>
        <p:txBody>
          <a:bodyPr/>
          <a:lstStyle/>
          <a:p>
            <a:endParaRPr lang="en-IN"/>
          </a:p>
        </p:txBody>
      </p:sp>
      <p:sp>
        <p:nvSpPr>
          <p:cNvPr id="35" name="Text 6">
            <a:extLst>
              <a:ext uri="{FF2B5EF4-FFF2-40B4-BE49-F238E27FC236}">
                <a16:creationId xmlns:a16="http://schemas.microsoft.com/office/drawing/2014/main" id="{9A6308FF-49FB-B3DE-C8DB-05DA970FC84A}"/>
              </a:ext>
            </a:extLst>
          </p:cNvPr>
          <p:cNvSpPr/>
          <p:nvPr/>
        </p:nvSpPr>
        <p:spPr>
          <a:xfrm>
            <a:off x="893752" y="1836445"/>
            <a:ext cx="4297680" cy="347472"/>
          </a:xfrm>
          <a:prstGeom prst="rect">
            <a:avLst/>
          </a:prstGeom>
          <a:noFill/>
          <a:ln/>
        </p:spPr>
        <p:txBody>
          <a:bodyPr wrap="square" lIns="0" tIns="0" rIns="0" bIns="0" rtlCol="0" anchor="ctr"/>
          <a:lstStyle/>
          <a:p>
            <a:pPr marL="0" indent="0" algn="l">
              <a:buNone/>
            </a:pPr>
            <a:r>
              <a:rPr lang="en-US" sz="2000" b="1" dirty="0">
                <a:solidFill>
                  <a:srgbClr val="064E3B"/>
                </a:solidFill>
                <a:latin typeface="Times New Roman" panose="02020603050405020304" pitchFamily="18" charset="0"/>
                <a:ea typeface="Calibri" pitchFamily="34" charset="-122"/>
                <a:cs typeface="Times New Roman" panose="02020603050405020304" pitchFamily="18" charset="0"/>
              </a:rPr>
              <a:t>Live Application Links</a:t>
            </a:r>
            <a:endParaRPr lang="en-US" dirty="0">
              <a:latin typeface="Times New Roman" panose="02020603050405020304" pitchFamily="18" charset="0"/>
              <a:cs typeface="Times New Roman" panose="02020603050405020304" pitchFamily="18" charset="0"/>
            </a:endParaRPr>
          </a:p>
        </p:txBody>
      </p:sp>
      <p:sp>
        <p:nvSpPr>
          <p:cNvPr id="36" name="Text 7">
            <a:extLst>
              <a:ext uri="{FF2B5EF4-FFF2-40B4-BE49-F238E27FC236}">
                <a16:creationId xmlns:a16="http://schemas.microsoft.com/office/drawing/2014/main" id="{55301E07-3C21-9ECE-C0F8-A1EF9FAFA081}"/>
              </a:ext>
            </a:extLst>
          </p:cNvPr>
          <p:cNvSpPr/>
          <p:nvPr/>
        </p:nvSpPr>
        <p:spPr>
          <a:xfrm>
            <a:off x="893752" y="2279707"/>
            <a:ext cx="4297680" cy="384048"/>
          </a:xfrm>
          <a:prstGeom prst="rect">
            <a:avLst/>
          </a:prstGeom>
          <a:noFill/>
          <a:ln/>
        </p:spPr>
        <p:txBody>
          <a:bodyPr wrap="square" lIns="0" tIns="0" rIns="0" bIns="0" rtlCol="0" anchor="ctr"/>
          <a:lstStyle/>
          <a:p>
            <a:pPr marL="0" indent="0" algn="l">
              <a:buNone/>
            </a:pPr>
            <a:r>
              <a:rPr lang="en-US" sz="1600" b="1" dirty="0">
                <a:solidFill>
                  <a:srgbClr val="475569"/>
                </a:solidFill>
                <a:latin typeface="Times New Roman" panose="02020603050405020304" pitchFamily="18" charset="0"/>
                <a:ea typeface="Calibri" pitchFamily="34" charset="-122"/>
                <a:cs typeface="Times New Roman" panose="02020603050405020304" pitchFamily="18" charset="0"/>
              </a:rPr>
              <a:t>Frontend: </a:t>
            </a:r>
            <a:r>
              <a:rPr lang="en-US" sz="1600" b="1" dirty="0">
                <a:solidFill>
                  <a:srgbClr val="475569"/>
                </a:solidFill>
                <a:latin typeface="Times New Roman" panose="02020603050405020304" pitchFamily="18" charset="0"/>
                <a:ea typeface="Calibri" pitchFamily="34" charset="-122"/>
                <a:cs typeface="Times New Roman" panose="02020603050405020304" pitchFamily="18" charset="0"/>
                <a:hlinkClick r:id="rId2"/>
              </a:rPr>
              <a:t>cognicare.web.com</a:t>
            </a:r>
            <a:endParaRPr lang="en-US" sz="1600" dirty="0">
              <a:latin typeface="Times New Roman" panose="02020603050405020304" pitchFamily="18" charset="0"/>
              <a:cs typeface="Times New Roman" panose="02020603050405020304" pitchFamily="18" charset="0"/>
            </a:endParaRPr>
          </a:p>
        </p:txBody>
      </p:sp>
      <p:sp>
        <p:nvSpPr>
          <p:cNvPr id="37" name="Text 8">
            <a:extLst>
              <a:ext uri="{FF2B5EF4-FFF2-40B4-BE49-F238E27FC236}">
                <a16:creationId xmlns:a16="http://schemas.microsoft.com/office/drawing/2014/main" id="{35D70E89-73E6-64B5-FD04-963B346F0146}"/>
              </a:ext>
            </a:extLst>
          </p:cNvPr>
          <p:cNvSpPr/>
          <p:nvPr/>
        </p:nvSpPr>
        <p:spPr>
          <a:xfrm>
            <a:off x="893752" y="2628703"/>
            <a:ext cx="4297680" cy="384048"/>
          </a:xfrm>
          <a:prstGeom prst="rect">
            <a:avLst/>
          </a:prstGeom>
          <a:noFill/>
          <a:ln/>
        </p:spPr>
        <p:txBody>
          <a:bodyPr wrap="square" lIns="0" tIns="0" rIns="0" bIns="0" rtlCol="0" anchor="ctr"/>
          <a:lstStyle/>
          <a:p>
            <a:pPr marL="0" indent="0" algn="l">
              <a:buNone/>
            </a:pPr>
            <a:r>
              <a:rPr lang="en-US" sz="1600" b="1" dirty="0">
                <a:solidFill>
                  <a:srgbClr val="475569"/>
                </a:solidFill>
                <a:latin typeface="Times New Roman" panose="02020603050405020304" pitchFamily="18" charset="0"/>
                <a:ea typeface="Calibri" pitchFamily="34" charset="-122"/>
                <a:cs typeface="Times New Roman" panose="02020603050405020304" pitchFamily="18" charset="0"/>
              </a:rPr>
              <a:t>Backend: </a:t>
            </a:r>
            <a:r>
              <a:rPr lang="en-US" sz="1600" b="1" dirty="0">
                <a:solidFill>
                  <a:srgbClr val="475569"/>
                </a:solidFill>
                <a:latin typeface="Times New Roman" panose="02020603050405020304" pitchFamily="18" charset="0"/>
                <a:ea typeface="Calibri" pitchFamily="34" charset="-122"/>
                <a:cs typeface="Times New Roman" panose="02020603050405020304" pitchFamily="18" charset="0"/>
                <a:hlinkClick r:id="rId3"/>
              </a:rPr>
              <a:t>cognicare.backend.com</a:t>
            </a:r>
            <a:endParaRPr lang="en-US" sz="1600" dirty="0">
              <a:latin typeface="Times New Roman" panose="02020603050405020304" pitchFamily="18" charset="0"/>
              <a:cs typeface="Times New Roman" panose="02020603050405020304" pitchFamily="18" charset="0"/>
            </a:endParaRPr>
          </a:p>
        </p:txBody>
      </p:sp>
      <p:sp>
        <p:nvSpPr>
          <p:cNvPr id="38" name="Text 9">
            <a:extLst>
              <a:ext uri="{FF2B5EF4-FFF2-40B4-BE49-F238E27FC236}">
                <a16:creationId xmlns:a16="http://schemas.microsoft.com/office/drawing/2014/main" id="{87A72A91-EBDD-5E09-DF66-C5F58273C279}"/>
              </a:ext>
            </a:extLst>
          </p:cNvPr>
          <p:cNvSpPr/>
          <p:nvPr/>
        </p:nvSpPr>
        <p:spPr>
          <a:xfrm>
            <a:off x="893752" y="3335299"/>
            <a:ext cx="4297680" cy="384048"/>
          </a:xfrm>
          <a:prstGeom prst="rect">
            <a:avLst/>
          </a:prstGeom>
          <a:noFill/>
          <a:ln/>
        </p:spPr>
        <p:txBody>
          <a:bodyPr wrap="square" lIns="0" tIns="0" rIns="0" bIns="0" rtlCol="0" anchor="ctr"/>
          <a:lstStyle/>
          <a:p>
            <a:pPr marL="0" indent="0" algn="l">
              <a:buNone/>
            </a:pPr>
            <a:r>
              <a:rPr lang="en-US" sz="1600" b="1" dirty="0">
                <a:solidFill>
                  <a:srgbClr val="475569"/>
                </a:solidFill>
                <a:latin typeface="Times New Roman" panose="02020603050405020304" pitchFamily="18" charset="0"/>
                <a:ea typeface="Calibri" pitchFamily="34" charset="-122"/>
                <a:cs typeface="Times New Roman" panose="02020603050405020304" pitchFamily="18" charset="0"/>
              </a:rPr>
              <a:t>GitLab: </a:t>
            </a:r>
            <a:r>
              <a:rPr lang="en-US" sz="1600" b="1" dirty="0">
                <a:solidFill>
                  <a:srgbClr val="475569"/>
                </a:solidFill>
                <a:latin typeface="Times New Roman" panose="02020603050405020304" pitchFamily="18" charset="0"/>
                <a:ea typeface="Calibri" pitchFamily="34" charset="-122"/>
                <a:cs typeface="Times New Roman" panose="02020603050405020304" pitchFamily="18" charset="0"/>
                <a:hlinkClick r:id="rId4"/>
              </a:rPr>
              <a:t>gitlab.com/vvh2/</a:t>
            </a:r>
            <a:r>
              <a:rPr lang="en-US" sz="1600" b="1" dirty="0" err="1">
                <a:solidFill>
                  <a:srgbClr val="475569"/>
                </a:solidFill>
                <a:latin typeface="Times New Roman" panose="02020603050405020304" pitchFamily="18" charset="0"/>
                <a:ea typeface="Calibri" pitchFamily="34" charset="-122"/>
                <a:cs typeface="Times New Roman" panose="02020603050405020304" pitchFamily="18" charset="0"/>
                <a:hlinkClick r:id="rId4"/>
              </a:rPr>
              <a:t>cognicare</a:t>
            </a:r>
            <a:endParaRPr lang="en-US" sz="1600" dirty="0">
              <a:latin typeface="Times New Roman" panose="02020603050405020304" pitchFamily="18" charset="0"/>
              <a:cs typeface="Times New Roman" panose="02020603050405020304" pitchFamily="18" charset="0"/>
            </a:endParaRPr>
          </a:p>
        </p:txBody>
      </p:sp>
      <p:sp>
        <p:nvSpPr>
          <p:cNvPr id="39" name="Shape 10">
            <a:extLst>
              <a:ext uri="{FF2B5EF4-FFF2-40B4-BE49-F238E27FC236}">
                <a16:creationId xmlns:a16="http://schemas.microsoft.com/office/drawing/2014/main" id="{3791CFD4-4E18-A8B4-CEDB-384F241FFB0D}"/>
              </a:ext>
            </a:extLst>
          </p:cNvPr>
          <p:cNvSpPr/>
          <p:nvPr/>
        </p:nvSpPr>
        <p:spPr>
          <a:xfrm>
            <a:off x="6238075" y="1356852"/>
            <a:ext cx="5386111" cy="2856271"/>
          </a:xfrm>
          <a:prstGeom prst="rect">
            <a:avLst/>
          </a:prstGeom>
          <a:solidFill>
            <a:srgbClr val="FFFFFF"/>
          </a:solidFill>
          <a:ln w="12700">
            <a:solidFill>
              <a:srgbClr val="BBF7D0"/>
            </a:solidFill>
            <a:prstDash val="solid"/>
          </a:ln>
          <a:effectLst>
            <a:outerShdw blurRad="101600" dist="38100" dir="8100000" algn="bl" rotWithShape="0">
              <a:srgbClr val="064E3B">
                <a:alpha val="15000"/>
              </a:srgbClr>
            </a:outerShdw>
          </a:effectLst>
        </p:spPr>
        <p:txBody>
          <a:bodyPr/>
          <a:lstStyle/>
          <a:p>
            <a:endParaRPr lang="en-IN"/>
          </a:p>
        </p:txBody>
      </p:sp>
      <p:sp>
        <p:nvSpPr>
          <p:cNvPr id="40" name="Shape 11">
            <a:extLst>
              <a:ext uri="{FF2B5EF4-FFF2-40B4-BE49-F238E27FC236}">
                <a16:creationId xmlns:a16="http://schemas.microsoft.com/office/drawing/2014/main" id="{6DC67B6F-53F7-9F63-FEFC-755535BA91A2}"/>
              </a:ext>
            </a:extLst>
          </p:cNvPr>
          <p:cNvSpPr/>
          <p:nvPr/>
        </p:nvSpPr>
        <p:spPr>
          <a:xfrm>
            <a:off x="6238074" y="1351051"/>
            <a:ext cx="5386111" cy="172949"/>
          </a:xfrm>
          <a:prstGeom prst="rect">
            <a:avLst/>
          </a:prstGeom>
          <a:solidFill>
            <a:srgbClr val="0D9488"/>
          </a:solidFill>
          <a:ln w="12700">
            <a:solidFill>
              <a:srgbClr val="0D9488"/>
            </a:solidFill>
            <a:prstDash val="solid"/>
          </a:ln>
        </p:spPr>
        <p:txBody>
          <a:bodyPr/>
          <a:lstStyle/>
          <a:p>
            <a:endParaRPr lang="en-IN"/>
          </a:p>
        </p:txBody>
      </p:sp>
      <p:sp>
        <p:nvSpPr>
          <p:cNvPr id="41" name="Text 12">
            <a:extLst>
              <a:ext uri="{FF2B5EF4-FFF2-40B4-BE49-F238E27FC236}">
                <a16:creationId xmlns:a16="http://schemas.microsoft.com/office/drawing/2014/main" id="{B59B377A-3AE8-E1A2-4132-419F02D03302}"/>
              </a:ext>
            </a:extLst>
          </p:cNvPr>
          <p:cNvSpPr/>
          <p:nvPr/>
        </p:nvSpPr>
        <p:spPr>
          <a:xfrm>
            <a:off x="6420956" y="1779517"/>
            <a:ext cx="3337560" cy="347472"/>
          </a:xfrm>
          <a:prstGeom prst="rect">
            <a:avLst/>
          </a:prstGeom>
          <a:noFill/>
          <a:ln/>
        </p:spPr>
        <p:txBody>
          <a:bodyPr wrap="square" lIns="0" tIns="0" rIns="0" bIns="0" rtlCol="0" anchor="ctr"/>
          <a:lstStyle/>
          <a:p>
            <a:pPr marL="0" indent="0" algn="l">
              <a:buNone/>
            </a:pPr>
            <a:r>
              <a:rPr lang="en-US" sz="2000" b="1" dirty="0">
                <a:solidFill>
                  <a:srgbClr val="064E3B"/>
                </a:solidFill>
                <a:latin typeface="Times New Roman" panose="02020603050405020304" pitchFamily="18" charset="0"/>
                <a:ea typeface="Calibri" pitchFamily="34" charset="-122"/>
                <a:cs typeface="Times New Roman" panose="02020603050405020304" pitchFamily="18" charset="0"/>
              </a:rPr>
              <a:t>Future Scope</a:t>
            </a:r>
            <a:endParaRPr lang="en-US" sz="2000" dirty="0">
              <a:latin typeface="Times New Roman" panose="02020603050405020304" pitchFamily="18" charset="0"/>
              <a:cs typeface="Times New Roman" panose="02020603050405020304" pitchFamily="18" charset="0"/>
            </a:endParaRPr>
          </a:p>
        </p:txBody>
      </p:sp>
      <p:sp>
        <p:nvSpPr>
          <p:cNvPr id="42" name="Text 13">
            <a:extLst>
              <a:ext uri="{FF2B5EF4-FFF2-40B4-BE49-F238E27FC236}">
                <a16:creationId xmlns:a16="http://schemas.microsoft.com/office/drawing/2014/main" id="{4318AB97-6AE0-BD5B-F8D9-B52FC52D01ED}"/>
              </a:ext>
            </a:extLst>
          </p:cNvPr>
          <p:cNvSpPr/>
          <p:nvPr/>
        </p:nvSpPr>
        <p:spPr>
          <a:xfrm>
            <a:off x="6420955" y="2366035"/>
            <a:ext cx="5033625" cy="219456"/>
          </a:xfrm>
          <a:prstGeom prst="rect">
            <a:avLst/>
          </a:prstGeom>
          <a:noFill/>
          <a:ln/>
        </p:spPr>
        <p:txBody>
          <a:bodyPr wrap="square" lIns="0" tIns="0" rIns="0" bIns="0" rtlCol="0" anchor="ctr"/>
          <a:lstStyle/>
          <a:p>
            <a:pPr marL="0" indent="0" algn="l">
              <a:buNone/>
            </a:pPr>
            <a:r>
              <a:rPr lang="en-US" sz="1600" b="1" dirty="0">
                <a:solidFill>
                  <a:srgbClr val="10B981"/>
                </a:solidFill>
                <a:latin typeface="Times New Roman" panose="02020603050405020304" pitchFamily="18" charset="0"/>
                <a:ea typeface="Calibri" pitchFamily="34" charset="-122"/>
                <a:cs typeface="Times New Roman" panose="02020603050405020304" pitchFamily="18" charset="0"/>
              </a:rPr>
              <a:t>→  </a:t>
            </a: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Semantic caching (Redis) to reduce free-tier load</a:t>
            </a:r>
            <a:endParaRPr lang="en-US" sz="1600" dirty="0">
              <a:latin typeface="Times New Roman" panose="02020603050405020304" pitchFamily="18" charset="0"/>
              <a:cs typeface="Times New Roman" panose="02020603050405020304" pitchFamily="18" charset="0"/>
            </a:endParaRPr>
          </a:p>
        </p:txBody>
      </p:sp>
      <p:sp>
        <p:nvSpPr>
          <p:cNvPr id="43" name="Text 14">
            <a:extLst>
              <a:ext uri="{FF2B5EF4-FFF2-40B4-BE49-F238E27FC236}">
                <a16:creationId xmlns:a16="http://schemas.microsoft.com/office/drawing/2014/main" id="{AEA15DF3-CD1A-5750-11D3-81B51EAFD612}"/>
              </a:ext>
            </a:extLst>
          </p:cNvPr>
          <p:cNvSpPr/>
          <p:nvPr/>
        </p:nvSpPr>
        <p:spPr>
          <a:xfrm>
            <a:off x="6420956" y="2704363"/>
            <a:ext cx="5033624" cy="219456"/>
          </a:xfrm>
          <a:prstGeom prst="rect">
            <a:avLst/>
          </a:prstGeom>
          <a:noFill/>
          <a:ln/>
        </p:spPr>
        <p:txBody>
          <a:bodyPr wrap="square" lIns="0" tIns="0" rIns="0" bIns="0" rtlCol="0" anchor="ctr"/>
          <a:lstStyle/>
          <a:p>
            <a:pPr marL="0" indent="0" algn="l">
              <a:buNone/>
            </a:pPr>
            <a:r>
              <a:rPr lang="en-US" sz="1600" b="1" dirty="0">
                <a:solidFill>
                  <a:srgbClr val="10B981"/>
                </a:solidFill>
                <a:latin typeface="Times New Roman" panose="02020603050405020304" pitchFamily="18" charset="0"/>
                <a:ea typeface="Calibri" pitchFamily="34" charset="-122"/>
                <a:cs typeface="Times New Roman" panose="02020603050405020304" pitchFamily="18" charset="0"/>
              </a:rPr>
              <a:t>→  </a:t>
            </a: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Digital biomarkers via wearable integration</a:t>
            </a:r>
            <a:endParaRPr lang="en-US" sz="1600" dirty="0">
              <a:latin typeface="Times New Roman" panose="02020603050405020304" pitchFamily="18" charset="0"/>
              <a:cs typeface="Times New Roman" panose="02020603050405020304" pitchFamily="18" charset="0"/>
            </a:endParaRPr>
          </a:p>
        </p:txBody>
      </p:sp>
      <p:sp>
        <p:nvSpPr>
          <p:cNvPr id="44" name="Text 15">
            <a:extLst>
              <a:ext uri="{FF2B5EF4-FFF2-40B4-BE49-F238E27FC236}">
                <a16:creationId xmlns:a16="http://schemas.microsoft.com/office/drawing/2014/main" id="{8145A26B-9F64-44E9-08DA-CFC3EC1E0E75}"/>
              </a:ext>
            </a:extLst>
          </p:cNvPr>
          <p:cNvSpPr/>
          <p:nvPr/>
        </p:nvSpPr>
        <p:spPr>
          <a:xfrm>
            <a:off x="6420955" y="3042691"/>
            <a:ext cx="5033623" cy="219456"/>
          </a:xfrm>
          <a:prstGeom prst="rect">
            <a:avLst/>
          </a:prstGeom>
          <a:noFill/>
          <a:ln/>
        </p:spPr>
        <p:txBody>
          <a:bodyPr wrap="square" lIns="0" tIns="0" rIns="0" bIns="0" rtlCol="0" anchor="ctr"/>
          <a:lstStyle/>
          <a:p>
            <a:pPr marL="0" indent="0" algn="l">
              <a:buNone/>
            </a:pPr>
            <a:r>
              <a:rPr lang="en-US" sz="1600" b="1" dirty="0">
                <a:solidFill>
                  <a:srgbClr val="10B981"/>
                </a:solidFill>
                <a:latin typeface="Times New Roman" panose="02020603050405020304" pitchFamily="18" charset="0"/>
                <a:ea typeface="Calibri" pitchFamily="34" charset="-122"/>
                <a:cs typeface="Times New Roman" panose="02020603050405020304" pitchFamily="18" charset="0"/>
              </a:rPr>
              <a:t>→  </a:t>
            </a: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NHS FHIR mapping for GP record interoperability</a:t>
            </a:r>
            <a:endParaRPr lang="en-US" sz="1600" dirty="0">
              <a:latin typeface="Times New Roman" panose="02020603050405020304" pitchFamily="18" charset="0"/>
              <a:cs typeface="Times New Roman" panose="02020603050405020304" pitchFamily="18" charset="0"/>
            </a:endParaRPr>
          </a:p>
        </p:txBody>
      </p:sp>
      <p:sp>
        <p:nvSpPr>
          <p:cNvPr id="45" name="Text 16">
            <a:extLst>
              <a:ext uri="{FF2B5EF4-FFF2-40B4-BE49-F238E27FC236}">
                <a16:creationId xmlns:a16="http://schemas.microsoft.com/office/drawing/2014/main" id="{B86C909E-D826-8E37-75CF-E1747AF2059A}"/>
              </a:ext>
            </a:extLst>
          </p:cNvPr>
          <p:cNvSpPr/>
          <p:nvPr/>
        </p:nvSpPr>
        <p:spPr>
          <a:xfrm>
            <a:off x="6420956" y="3381019"/>
            <a:ext cx="5033622" cy="214835"/>
          </a:xfrm>
          <a:prstGeom prst="rect">
            <a:avLst/>
          </a:prstGeom>
          <a:noFill/>
          <a:ln/>
        </p:spPr>
        <p:txBody>
          <a:bodyPr wrap="square" lIns="0" tIns="0" rIns="0" bIns="0" rtlCol="0" anchor="ctr"/>
          <a:lstStyle/>
          <a:p>
            <a:pPr marL="0" indent="0" algn="l">
              <a:buNone/>
            </a:pPr>
            <a:r>
              <a:rPr lang="en-US" sz="1600" b="1" dirty="0">
                <a:solidFill>
                  <a:srgbClr val="10B981"/>
                </a:solidFill>
                <a:latin typeface="Times New Roman" panose="02020603050405020304" pitchFamily="18" charset="0"/>
                <a:ea typeface="Calibri" pitchFamily="34" charset="-122"/>
                <a:cs typeface="Times New Roman" panose="02020603050405020304" pitchFamily="18" charset="0"/>
              </a:rPr>
              <a:t>→  </a:t>
            </a: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WebRTC telehealth - Seamless Escalation model</a:t>
            </a:r>
            <a:endParaRPr lang="en-US" sz="1600" dirty="0">
              <a:latin typeface="Times New Roman" panose="02020603050405020304" pitchFamily="18" charset="0"/>
              <a:cs typeface="Times New Roman" panose="02020603050405020304" pitchFamily="18" charset="0"/>
            </a:endParaRPr>
          </a:p>
        </p:txBody>
      </p:sp>
      <p:sp>
        <p:nvSpPr>
          <p:cNvPr id="46" name="Text 17">
            <a:extLst>
              <a:ext uri="{FF2B5EF4-FFF2-40B4-BE49-F238E27FC236}">
                <a16:creationId xmlns:a16="http://schemas.microsoft.com/office/drawing/2014/main" id="{4CA773A4-C694-D3F0-1DF6-E7E97523C3B4}"/>
              </a:ext>
            </a:extLst>
          </p:cNvPr>
          <p:cNvSpPr/>
          <p:nvPr/>
        </p:nvSpPr>
        <p:spPr>
          <a:xfrm>
            <a:off x="6420956" y="3719347"/>
            <a:ext cx="5033622" cy="214835"/>
          </a:xfrm>
          <a:prstGeom prst="rect">
            <a:avLst/>
          </a:prstGeom>
          <a:noFill/>
          <a:ln/>
        </p:spPr>
        <p:txBody>
          <a:bodyPr wrap="square" lIns="0" tIns="0" rIns="0" bIns="0" rtlCol="0" anchor="ctr"/>
          <a:lstStyle/>
          <a:p>
            <a:pPr marL="0" indent="0" algn="l">
              <a:buNone/>
            </a:pPr>
            <a:r>
              <a:rPr lang="en-US" sz="1600" b="1" dirty="0">
                <a:solidFill>
                  <a:srgbClr val="10B981"/>
                </a:solidFill>
                <a:latin typeface="Times New Roman" panose="02020603050405020304" pitchFamily="18" charset="0"/>
                <a:ea typeface="Calibri" pitchFamily="34" charset="-122"/>
                <a:cs typeface="Times New Roman" panose="02020603050405020304" pitchFamily="18" charset="0"/>
              </a:rPr>
              <a:t>→  </a:t>
            </a: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Formal WCAG 2.1 audit + ARIA screen reader support</a:t>
            </a:r>
            <a:endParaRPr lang="en-US" sz="1600" dirty="0">
              <a:latin typeface="Times New Roman" panose="02020603050405020304" pitchFamily="18" charset="0"/>
              <a:cs typeface="Times New Roman" panose="02020603050405020304" pitchFamily="18" charset="0"/>
            </a:endParaRPr>
          </a:p>
        </p:txBody>
      </p:sp>
      <p:sp>
        <p:nvSpPr>
          <p:cNvPr id="47" name="Shape 18">
            <a:extLst>
              <a:ext uri="{FF2B5EF4-FFF2-40B4-BE49-F238E27FC236}">
                <a16:creationId xmlns:a16="http://schemas.microsoft.com/office/drawing/2014/main" id="{6AEA2ADE-78F4-9944-34BE-844C2AE0498D}"/>
              </a:ext>
            </a:extLst>
          </p:cNvPr>
          <p:cNvSpPr/>
          <p:nvPr/>
        </p:nvSpPr>
        <p:spPr>
          <a:xfrm>
            <a:off x="646324" y="4493564"/>
            <a:ext cx="2121408" cy="1783080"/>
          </a:xfrm>
          <a:prstGeom prst="rect">
            <a:avLst/>
          </a:prstGeom>
          <a:solidFill>
            <a:srgbClr val="FFFFFF"/>
          </a:solidFill>
          <a:ln w="12700">
            <a:solidFill>
              <a:srgbClr val="BBF7D0"/>
            </a:solidFill>
            <a:prstDash val="solid"/>
          </a:ln>
          <a:effectLst>
            <a:outerShdw blurRad="101600" dist="38100" dir="8100000" algn="bl" rotWithShape="0">
              <a:srgbClr val="064E3B">
                <a:alpha val="15000"/>
              </a:srgbClr>
            </a:outerShdw>
          </a:effectLst>
        </p:spPr>
        <p:txBody>
          <a:bodyPr/>
          <a:lstStyle/>
          <a:p>
            <a:endParaRPr lang="en-IN"/>
          </a:p>
        </p:txBody>
      </p:sp>
      <p:sp>
        <p:nvSpPr>
          <p:cNvPr id="48" name="Shape 19">
            <a:extLst>
              <a:ext uri="{FF2B5EF4-FFF2-40B4-BE49-F238E27FC236}">
                <a16:creationId xmlns:a16="http://schemas.microsoft.com/office/drawing/2014/main" id="{C7878FBD-59A3-5266-485B-EA3635DDE947}"/>
              </a:ext>
            </a:extLst>
          </p:cNvPr>
          <p:cNvSpPr/>
          <p:nvPr/>
        </p:nvSpPr>
        <p:spPr>
          <a:xfrm>
            <a:off x="646324" y="4398118"/>
            <a:ext cx="2121408" cy="89768"/>
          </a:xfrm>
          <a:prstGeom prst="rect">
            <a:avLst/>
          </a:prstGeom>
          <a:solidFill>
            <a:srgbClr val="10B981"/>
          </a:solidFill>
          <a:ln w="12700">
            <a:solidFill>
              <a:srgbClr val="10B981"/>
            </a:solidFill>
            <a:prstDash val="solid"/>
          </a:ln>
        </p:spPr>
        <p:txBody>
          <a:bodyPr/>
          <a:lstStyle/>
          <a:p>
            <a:endParaRPr lang="en-IN"/>
          </a:p>
        </p:txBody>
      </p:sp>
      <p:sp>
        <p:nvSpPr>
          <p:cNvPr id="49" name="Text 20">
            <a:extLst>
              <a:ext uri="{FF2B5EF4-FFF2-40B4-BE49-F238E27FC236}">
                <a16:creationId xmlns:a16="http://schemas.microsoft.com/office/drawing/2014/main" id="{117C5765-4216-5016-4046-3C84AA3EB014}"/>
              </a:ext>
            </a:extLst>
          </p:cNvPr>
          <p:cNvSpPr/>
          <p:nvPr/>
        </p:nvSpPr>
        <p:spPr>
          <a:xfrm>
            <a:off x="687668" y="4633747"/>
            <a:ext cx="2029968" cy="731520"/>
          </a:xfrm>
          <a:prstGeom prst="rect">
            <a:avLst/>
          </a:prstGeom>
          <a:noFill/>
          <a:ln/>
        </p:spPr>
        <p:txBody>
          <a:bodyPr wrap="square" lIns="0" tIns="0" rIns="0" bIns="0" rtlCol="0" anchor="ctr"/>
          <a:lstStyle/>
          <a:p>
            <a:pPr marL="0" indent="0" algn="ctr">
              <a:buNone/>
            </a:pPr>
            <a:r>
              <a:rPr lang="en-US" sz="4000" b="1" dirty="0">
                <a:solidFill>
                  <a:srgbClr val="064E3B"/>
                </a:solidFill>
                <a:latin typeface="Times New Roman" panose="02020603050405020304" pitchFamily="18" charset="0"/>
                <a:ea typeface="Georgia" pitchFamily="34" charset="-122"/>
                <a:cs typeface="Times New Roman" panose="02020603050405020304" pitchFamily="18" charset="0"/>
              </a:rPr>
              <a:t>4/4</a:t>
            </a:r>
            <a:endParaRPr lang="en-US" sz="4000" dirty="0">
              <a:latin typeface="Times New Roman" panose="02020603050405020304" pitchFamily="18" charset="0"/>
              <a:cs typeface="Times New Roman" panose="02020603050405020304" pitchFamily="18" charset="0"/>
            </a:endParaRPr>
          </a:p>
        </p:txBody>
      </p:sp>
      <p:sp>
        <p:nvSpPr>
          <p:cNvPr id="50" name="Text 21">
            <a:extLst>
              <a:ext uri="{FF2B5EF4-FFF2-40B4-BE49-F238E27FC236}">
                <a16:creationId xmlns:a16="http://schemas.microsoft.com/office/drawing/2014/main" id="{B9D5BD0C-0585-AE30-A53F-749457331425}"/>
              </a:ext>
            </a:extLst>
          </p:cNvPr>
          <p:cNvSpPr/>
          <p:nvPr/>
        </p:nvSpPr>
        <p:spPr>
          <a:xfrm>
            <a:off x="730930" y="5456707"/>
            <a:ext cx="2029968" cy="640080"/>
          </a:xfrm>
          <a:prstGeom prst="rect">
            <a:avLst/>
          </a:prstGeom>
          <a:noFill/>
          <a:ln/>
        </p:spPr>
        <p:txBody>
          <a:bodyPr wrap="square" lIns="0" tIns="0" rIns="0" bIns="0" rtlCol="0" anchor="t"/>
          <a:lstStyle/>
          <a:p>
            <a:pPr marL="0" indent="0" algn="ctr">
              <a:buNone/>
            </a:pPr>
            <a:r>
              <a:rPr lang="en-US" sz="1400" dirty="0">
                <a:solidFill>
                  <a:srgbClr val="475569"/>
                </a:solidFill>
                <a:latin typeface="Times New Roman" panose="02020603050405020304" pitchFamily="18" charset="0"/>
                <a:ea typeface="Calibri" pitchFamily="34" charset="-122"/>
                <a:cs typeface="Times New Roman" panose="02020603050405020304" pitchFamily="18" charset="0"/>
              </a:rPr>
              <a:t>Essential</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dirty="0">
                <a:solidFill>
                  <a:srgbClr val="475569"/>
                </a:solidFill>
                <a:latin typeface="Times New Roman" panose="02020603050405020304" pitchFamily="18" charset="0"/>
                <a:ea typeface="Calibri" pitchFamily="34" charset="-122"/>
                <a:cs typeface="Times New Roman" panose="02020603050405020304" pitchFamily="18" charset="0"/>
              </a:rPr>
              <a:t>Requirements Met</a:t>
            </a:r>
            <a:endParaRPr lang="en-US" sz="1400" dirty="0">
              <a:latin typeface="Times New Roman" panose="02020603050405020304" pitchFamily="18" charset="0"/>
              <a:cs typeface="Times New Roman" panose="02020603050405020304" pitchFamily="18" charset="0"/>
            </a:endParaRPr>
          </a:p>
        </p:txBody>
      </p:sp>
      <p:sp>
        <p:nvSpPr>
          <p:cNvPr id="51" name="Shape 22">
            <a:extLst>
              <a:ext uri="{FF2B5EF4-FFF2-40B4-BE49-F238E27FC236}">
                <a16:creationId xmlns:a16="http://schemas.microsoft.com/office/drawing/2014/main" id="{B6C27CF2-EFD9-CC01-A195-5DF3F945E8B7}"/>
              </a:ext>
            </a:extLst>
          </p:cNvPr>
          <p:cNvSpPr/>
          <p:nvPr/>
        </p:nvSpPr>
        <p:spPr>
          <a:xfrm>
            <a:off x="3685324" y="4496685"/>
            <a:ext cx="2317267" cy="1698474"/>
          </a:xfrm>
          <a:prstGeom prst="rect">
            <a:avLst/>
          </a:prstGeom>
          <a:solidFill>
            <a:srgbClr val="FFFFFF"/>
          </a:solidFill>
          <a:ln w="12700">
            <a:solidFill>
              <a:srgbClr val="BBF7D0"/>
            </a:solidFill>
            <a:prstDash val="solid"/>
          </a:ln>
          <a:effectLst>
            <a:outerShdw blurRad="101600" dist="38100" dir="8100000" algn="bl" rotWithShape="0">
              <a:srgbClr val="064E3B">
                <a:alpha val="15000"/>
              </a:srgbClr>
            </a:outerShdw>
          </a:effectLst>
        </p:spPr>
        <p:txBody>
          <a:bodyPr/>
          <a:lstStyle/>
          <a:p>
            <a:endParaRPr lang="en-IN" dirty="0"/>
          </a:p>
        </p:txBody>
      </p:sp>
      <p:sp>
        <p:nvSpPr>
          <p:cNvPr id="52" name="Shape 23">
            <a:extLst>
              <a:ext uri="{FF2B5EF4-FFF2-40B4-BE49-F238E27FC236}">
                <a16:creationId xmlns:a16="http://schemas.microsoft.com/office/drawing/2014/main" id="{5F47B8E1-7265-EF0A-FF8E-61ECB8E9852E}"/>
              </a:ext>
            </a:extLst>
          </p:cNvPr>
          <p:cNvSpPr/>
          <p:nvPr/>
        </p:nvSpPr>
        <p:spPr>
          <a:xfrm>
            <a:off x="3685324" y="4403795"/>
            <a:ext cx="2317267" cy="89769"/>
          </a:xfrm>
          <a:prstGeom prst="rect">
            <a:avLst/>
          </a:prstGeom>
          <a:solidFill>
            <a:srgbClr val="10B981"/>
          </a:solidFill>
          <a:ln w="12700">
            <a:solidFill>
              <a:srgbClr val="10B981"/>
            </a:solidFill>
            <a:prstDash val="solid"/>
          </a:ln>
        </p:spPr>
        <p:txBody>
          <a:bodyPr/>
          <a:lstStyle/>
          <a:p>
            <a:endParaRPr lang="en-IN"/>
          </a:p>
        </p:txBody>
      </p:sp>
      <p:sp>
        <p:nvSpPr>
          <p:cNvPr id="53" name="Text 24">
            <a:extLst>
              <a:ext uri="{FF2B5EF4-FFF2-40B4-BE49-F238E27FC236}">
                <a16:creationId xmlns:a16="http://schemas.microsoft.com/office/drawing/2014/main" id="{1F966A67-4663-9974-AB8E-1E9BA58CB5BE}"/>
              </a:ext>
            </a:extLst>
          </p:cNvPr>
          <p:cNvSpPr/>
          <p:nvPr/>
        </p:nvSpPr>
        <p:spPr>
          <a:xfrm>
            <a:off x="3814620" y="4643653"/>
            <a:ext cx="2029968" cy="731520"/>
          </a:xfrm>
          <a:prstGeom prst="rect">
            <a:avLst/>
          </a:prstGeom>
          <a:noFill/>
          <a:ln/>
        </p:spPr>
        <p:txBody>
          <a:bodyPr wrap="square" lIns="0" tIns="0" rIns="0" bIns="0" rtlCol="0" anchor="ctr"/>
          <a:lstStyle/>
          <a:p>
            <a:pPr marL="0" indent="0" algn="ctr">
              <a:buNone/>
            </a:pPr>
            <a:r>
              <a:rPr lang="en-US" sz="4000" b="1" dirty="0">
                <a:solidFill>
                  <a:srgbClr val="064E3B"/>
                </a:solidFill>
                <a:latin typeface="Times New Roman" panose="02020603050405020304" pitchFamily="18" charset="0"/>
                <a:ea typeface="Georgia" pitchFamily="34" charset="-122"/>
                <a:cs typeface="Times New Roman" panose="02020603050405020304" pitchFamily="18" charset="0"/>
              </a:rPr>
              <a:t>51</a:t>
            </a:r>
            <a:endParaRPr lang="en-US" sz="4000" dirty="0">
              <a:latin typeface="Times New Roman" panose="02020603050405020304" pitchFamily="18" charset="0"/>
              <a:cs typeface="Times New Roman" panose="02020603050405020304" pitchFamily="18" charset="0"/>
            </a:endParaRPr>
          </a:p>
        </p:txBody>
      </p:sp>
      <p:sp>
        <p:nvSpPr>
          <p:cNvPr id="54" name="Text 25">
            <a:extLst>
              <a:ext uri="{FF2B5EF4-FFF2-40B4-BE49-F238E27FC236}">
                <a16:creationId xmlns:a16="http://schemas.microsoft.com/office/drawing/2014/main" id="{01F2DEFF-90C1-BF85-7D08-C8F732D9EFE5}"/>
              </a:ext>
            </a:extLst>
          </p:cNvPr>
          <p:cNvSpPr/>
          <p:nvPr/>
        </p:nvSpPr>
        <p:spPr>
          <a:xfrm>
            <a:off x="3758627" y="5375173"/>
            <a:ext cx="2029968" cy="640080"/>
          </a:xfrm>
          <a:prstGeom prst="rect">
            <a:avLst/>
          </a:prstGeom>
          <a:noFill/>
          <a:ln/>
        </p:spPr>
        <p:txBody>
          <a:bodyPr wrap="square" lIns="0" tIns="0" rIns="0" bIns="0" rtlCol="0" anchor="t"/>
          <a:lstStyle/>
          <a:p>
            <a:pPr marL="0" indent="0" algn="ctr">
              <a:buNone/>
            </a:pPr>
            <a:r>
              <a:rPr lang="en-US" sz="1400" dirty="0">
                <a:solidFill>
                  <a:srgbClr val="475569"/>
                </a:solidFill>
                <a:latin typeface="Times New Roman" panose="02020603050405020304" pitchFamily="18" charset="0"/>
                <a:ea typeface="Calibri" pitchFamily="34" charset="-122"/>
                <a:cs typeface="Times New Roman" panose="02020603050405020304" pitchFamily="18" charset="0"/>
              </a:rPr>
              <a:t>Automated</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dirty="0">
                <a:solidFill>
                  <a:srgbClr val="475569"/>
                </a:solidFill>
                <a:latin typeface="Times New Roman" panose="02020603050405020304" pitchFamily="18" charset="0"/>
                <a:ea typeface="Calibri" pitchFamily="34" charset="-122"/>
                <a:cs typeface="Times New Roman" panose="02020603050405020304" pitchFamily="18" charset="0"/>
              </a:rPr>
              <a:t>Tests Passing</a:t>
            </a:r>
            <a:endParaRPr lang="en-US" sz="1400" dirty="0">
              <a:latin typeface="Times New Roman" panose="02020603050405020304" pitchFamily="18" charset="0"/>
              <a:cs typeface="Times New Roman" panose="02020603050405020304" pitchFamily="18" charset="0"/>
            </a:endParaRPr>
          </a:p>
        </p:txBody>
      </p:sp>
      <p:sp>
        <p:nvSpPr>
          <p:cNvPr id="55" name="Shape 26">
            <a:extLst>
              <a:ext uri="{FF2B5EF4-FFF2-40B4-BE49-F238E27FC236}">
                <a16:creationId xmlns:a16="http://schemas.microsoft.com/office/drawing/2014/main" id="{A9B78CC3-C77F-2DB3-E4A0-0A2F15EA116D}"/>
              </a:ext>
            </a:extLst>
          </p:cNvPr>
          <p:cNvSpPr/>
          <p:nvPr/>
        </p:nvSpPr>
        <p:spPr>
          <a:xfrm>
            <a:off x="6779491" y="4504895"/>
            <a:ext cx="2201932" cy="1663569"/>
          </a:xfrm>
          <a:prstGeom prst="rect">
            <a:avLst/>
          </a:prstGeom>
          <a:solidFill>
            <a:srgbClr val="FFFFFF"/>
          </a:solidFill>
          <a:ln w="12700">
            <a:solidFill>
              <a:srgbClr val="BBF7D0"/>
            </a:solidFill>
            <a:prstDash val="solid"/>
          </a:ln>
          <a:effectLst>
            <a:outerShdw blurRad="101600" dist="38100" dir="8100000" algn="bl" rotWithShape="0">
              <a:srgbClr val="064E3B">
                <a:alpha val="15000"/>
              </a:srgbClr>
            </a:outerShdw>
          </a:effectLst>
        </p:spPr>
        <p:txBody>
          <a:bodyPr/>
          <a:lstStyle/>
          <a:p>
            <a:endParaRPr lang="en-IN"/>
          </a:p>
        </p:txBody>
      </p:sp>
      <p:sp>
        <p:nvSpPr>
          <p:cNvPr id="56" name="Shape 27">
            <a:extLst>
              <a:ext uri="{FF2B5EF4-FFF2-40B4-BE49-F238E27FC236}">
                <a16:creationId xmlns:a16="http://schemas.microsoft.com/office/drawing/2014/main" id="{4FB8671A-D9FB-EDF9-63D9-054C30B56999}"/>
              </a:ext>
            </a:extLst>
          </p:cNvPr>
          <p:cNvSpPr/>
          <p:nvPr/>
        </p:nvSpPr>
        <p:spPr>
          <a:xfrm>
            <a:off x="6779490" y="4429482"/>
            <a:ext cx="2201932" cy="93113"/>
          </a:xfrm>
          <a:prstGeom prst="rect">
            <a:avLst/>
          </a:prstGeom>
          <a:solidFill>
            <a:srgbClr val="10B981"/>
          </a:solidFill>
          <a:ln w="12700">
            <a:solidFill>
              <a:srgbClr val="10B981"/>
            </a:solidFill>
            <a:prstDash val="solid"/>
          </a:ln>
        </p:spPr>
        <p:txBody>
          <a:bodyPr/>
          <a:lstStyle/>
          <a:p>
            <a:endParaRPr lang="en-IN"/>
          </a:p>
        </p:txBody>
      </p:sp>
      <p:sp>
        <p:nvSpPr>
          <p:cNvPr id="57" name="Text 28">
            <a:extLst>
              <a:ext uri="{FF2B5EF4-FFF2-40B4-BE49-F238E27FC236}">
                <a16:creationId xmlns:a16="http://schemas.microsoft.com/office/drawing/2014/main" id="{9539FCA0-8927-7B4B-1AAE-38D1DA42F135}"/>
              </a:ext>
            </a:extLst>
          </p:cNvPr>
          <p:cNvSpPr/>
          <p:nvPr/>
        </p:nvSpPr>
        <p:spPr>
          <a:xfrm>
            <a:off x="6779490" y="4588027"/>
            <a:ext cx="2029968" cy="731520"/>
          </a:xfrm>
          <a:prstGeom prst="rect">
            <a:avLst/>
          </a:prstGeom>
          <a:noFill/>
          <a:ln/>
        </p:spPr>
        <p:txBody>
          <a:bodyPr wrap="square" lIns="0" tIns="0" rIns="0" bIns="0" rtlCol="0" anchor="ctr"/>
          <a:lstStyle/>
          <a:p>
            <a:pPr marL="0" indent="0" algn="ctr">
              <a:buNone/>
            </a:pPr>
            <a:r>
              <a:rPr lang="en-US" sz="4000" b="1" dirty="0">
                <a:solidFill>
                  <a:srgbClr val="064E3B"/>
                </a:solidFill>
                <a:latin typeface="Times New Roman" panose="02020603050405020304" pitchFamily="18" charset="0"/>
                <a:ea typeface="Georgia" pitchFamily="34" charset="-122"/>
                <a:cs typeface="Times New Roman" panose="02020603050405020304" pitchFamily="18" charset="0"/>
              </a:rPr>
              <a:t>3</a:t>
            </a:r>
            <a:endParaRPr lang="en-US" sz="4000" dirty="0">
              <a:latin typeface="Times New Roman" panose="02020603050405020304" pitchFamily="18" charset="0"/>
              <a:cs typeface="Times New Roman" panose="02020603050405020304" pitchFamily="18" charset="0"/>
            </a:endParaRPr>
          </a:p>
        </p:txBody>
      </p:sp>
      <p:sp>
        <p:nvSpPr>
          <p:cNvPr id="58" name="Text 29">
            <a:extLst>
              <a:ext uri="{FF2B5EF4-FFF2-40B4-BE49-F238E27FC236}">
                <a16:creationId xmlns:a16="http://schemas.microsoft.com/office/drawing/2014/main" id="{433185D7-81E6-640B-97E4-E603975AF0BC}"/>
              </a:ext>
            </a:extLst>
          </p:cNvPr>
          <p:cNvSpPr/>
          <p:nvPr/>
        </p:nvSpPr>
        <p:spPr>
          <a:xfrm>
            <a:off x="6865472" y="5391150"/>
            <a:ext cx="2029968" cy="640080"/>
          </a:xfrm>
          <a:prstGeom prst="rect">
            <a:avLst/>
          </a:prstGeom>
          <a:noFill/>
          <a:ln/>
        </p:spPr>
        <p:txBody>
          <a:bodyPr wrap="square" lIns="0" tIns="0" rIns="0" bIns="0" rtlCol="0" anchor="t"/>
          <a:lstStyle/>
          <a:p>
            <a:pPr marL="0" indent="0" algn="ctr">
              <a:buNone/>
            </a:pPr>
            <a:r>
              <a:rPr lang="en-US" sz="1400" dirty="0">
                <a:solidFill>
                  <a:srgbClr val="475569"/>
                </a:solidFill>
                <a:latin typeface="Times New Roman" panose="02020603050405020304" pitchFamily="18" charset="0"/>
                <a:ea typeface="Calibri" pitchFamily="34" charset="-122"/>
                <a:cs typeface="Times New Roman" panose="02020603050405020304" pitchFamily="18" charset="0"/>
              </a:rPr>
              <a:t>AI Prompt</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dirty="0">
                <a:solidFill>
                  <a:srgbClr val="475569"/>
                </a:solidFill>
                <a:latin typeface="Times New Roman" panose="02020603050405020304" pitchFamily="18" charset="0"/>
                <a:ea typeface="Calibri" pitchFamily="34" charset="-122"/>
                <a:cs typeface="Times New Roman" panose="02020603050405020304" pitchFamily="18" charset="0"/>
              </a:rPr>
              <a:t>Iterations</a:t>
            </a:r>
            <a:endParaRPr lang="en-US" sz="1400" dirty="0">
              <a:latin typeface="Times New Roman" panose="02020603050405020304" pitchFamily="18" charset="0"/>
              <a:cs typeface="Times New Roman" panose="02020603050405020304" pitchFamily="18" charset="0"/>
            </a:endParaRPr>
          </a:p>
        </p:txBody>
      </p:sp>
      <p:sp>
        <p:nvSpPr>
          <p:cNvPr id="59" name="Shape 30">
            <a:extLst>
              <a:ext uri="{FF2B5EF4-FFF2-40B4-BE49-F238E27FC236}">
                <a16:creationId xmlns:a16="http://schemas.microsoft.com/office/drawing/2014/main" id="{A7D330AA-F88D-6818-C3A1-2839D72E5C2B}"/>
              </a:ext>
            </a:extLst>
          </p:cNvPr>
          <p:cNvSpPr/>
          <p:nvPr/>
        </p:nvSpPr>
        <p:spPr>
          <a:xfrm>
            <a:off x="9473821" y="4528738"/>
            <a:ext cx="2201931" cy="1618341"/>
          </a:xfrm>
          <a:prstGeom prst="rect">
            <a:avLst/>
          </a:prstGeom>
          <a:solidFill>
            <a:srgbClr val="FFFFFF"/>
          </a:solidFill>
          <a:ln w="12700">
            <a:solidFill>
              <a:srgbClr val="BBF7D0"/>
            </a:solidFill>
            <a:prstDash val="solid"/>
          </a:ln>
          <a:effectLst>
            <a:outerShdw blurRad="101600" dist="38100" dir="8100000" algn="bl" rotWithShape="0">
              <a:srgbClr val="064E3B">
                <a:alpha val="15000"/>
              </a:srgbClr>
            </a:outerShdw>
          </a:effectLst>
        </p:spPr>
        <p:txBody>
          <a:bodyPr/>
          <a:lstStyle/>
          <a:p>
            <a:endParaRPr lang="en-IN"/>
          </a:p>
        </p:txBody>
      </p:sp>
      <p:sp>
        <p:nvSpPr>
          <p:cNvPr id="60" name="Shape 31">
            <a:extLst>
              <a:ext uri="{FF2B5EF4-FFF2-40B4-BE49-F238E27FC236}">
                <a16:creationId xmlns:a16="http://schemas.microsoft.com/office/drawing/2014/main" id="{83B2678D-DDD8-01D7-D139-3A353991B826}"/>
              </a:ext>
            </a:extLst>
          </p:cNvPr>
          <p:cNvSpPr/>
          <p:nvPr/>
        </p:nvSpPr>
        <p:spPr>
          <a:xfrm>
            <a:off x="9473820" y="4481197"/>
            <a:ext cx="2201931" cy="93114"/>
          </a:xfrm>
          <a:prstGeom prst="rect">
            <a:avLst/>
          </a:prstGeom>
          <a:solidFill>
            <a:srgbClr val="10B981"/>
          </a:solidFill>
          <a:ln w="12700">
            <a:solidFill>
              <a:srgbClr val="10B981"/>
            </a:solidFill>
            <a:prstDash val="solid"/>
          </a:ln>
        </p:spPr>
        <p:txBody>
          <a:bodyPr/>
          <a:lstStyle/>
          <a:p>
            <a:endParaRPr lang="en-IN"/>
          </a:p>
        </p:txBody>
      </p:sp>
      <p:sp>
        <p:nvSpPr>
          <p:cNvPr id="61" name="Text 32">
            <a:extLst>
              <a:ext uri="{FF2B5EF4-FFF2-40B4-BE49-F238E27FC236}">
                <a16:creationId xmlns:a16="http://schemas.microsoft.com/office/drawing/2014/main" id="{4EC9D325-53B4-B3FB-E1A6-4C8DADC8F603}"/>
              </a:ext>
            </a:extLst>
          </p:cNvPr>
          <p:cNvSpPr/>
          <p:nvPr/>
        </p:nvSpPr>
        <p:spPr>
          <a:xfrm>
            <a:off x="9541664" y="4633747"/>
            <a:ext cx="2029968" cy="731520"/>
          </a:xfrm>
          <a:prstGeom prst="rect">
            <a:avLst/>
          </a:prstGeom>
          <a:noFill/>
          <a:ln/>
        </p:spPr>
        <p:txBody>
          <a:bodyPr wrap="square" lIns="0" tIns="0" rIns="0" bIns="0" rtlCol="0" anchor="ctr"/>
          <a:lstStyle/>
          <a:p>
            <a:pPr marL="0" indent="0" algn="ctr">
              <a:buNone/>
            </a:pPr>
            <a:r>
              <a:rPr lang="en-US" sz="4000" b="1" dirty="0">
                <a:solidFill>
                  <a:srgbClr val="064E3B"/>
                </a:solidFill>
                <a:latin typeface="Times New Roman" panose="02020603050405020304" pitchFamily="18" charset="0"/>
                <a:ea typeface="Georgia" pitchFamily="34" charset="-122"/>
                <a:cs typeface="Times New Roman" panose="02020603050405020304" pitchFamily="18" charset="0"/>
              </a:rPr>
              <a:t>117</a:t>
            </a:r>
            <a:endParaRPr lang="en-US" sz="4000" dirty="0">
              <a:latin typeface="Times New Roman" panose="02020603050405020304" pitchFamily="18" charset="0"/>
              <a:cs typeface="Times New Roman" panose="02020603050405020304" pitchFamily="18" charset="0"/>
            </a:endParaRPr>
          </a:p>
        </p:txBody>
      </p:sp>
      <p:sp>
        <p:nvSpPr>
          <p:cNvPr id="62" name="Text 33">
            <a:extLst>
              <a:ext uri="{FF2B5EF4-FFF2-40B4-BE49-F238E27FC236}">
                <a16:creationId xmlns:a16="http://schemas.microsoft.com/office/drawing/2014/main" id="{DAC7E6EF-B85D-DC51-78FE-CC0D40E889BA}"/>
              </a:ext>
            </a:extLst>
          </p:cNvPr>
          <p:cNvSpPr/>
          <p:nvPr/>
        </p:nvSpPr>
        <p:spPr>
          <a:xfrm>
            <a:off x="9541664" y="5369839"/>
            <a:ext cx="2029968" cy="640080"/>
          </a:xfrm>
          <a:prstGeom prst="rect">
            <a:avLst/>
          </a:prstGeom>
          <a:noFill/>
          <a:ln/>
        </p:spPr>
        <p:txBody>
          <a:bodyPr wrap="square" lIns="0" tIns="0" rIns="0" bIns="0" rtlCol="0" anchor="t"/>
          <a:lstStyle/>
          <a:p>
            <a:pPr marL="0" indent="0" algn="ctr">
              <a:buNone/>
            </a:pPr>
            <a:r>
              <a:rPr lang="en-US" sz="1400" dirty="0">
                <a:solidFill>
                  <a:srgbClr val="475569"/>
                </a:solidFill>
                <a:latin typeface="Times New Roman" panose="02020603050405020304" pitchFamily="18" charset="0"/>
                <a:ea typeface="Calibri" pitchFamily="34" charset="-122"/>
                <a:cs typeface="Times New Roman" panose="02020603050405020304" pitchFamily="18" charset="0"/>
              </a:rPr>
              <a:t>Page</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dirty="0">
                <a:solidFill>
                  <a:srgbClr val="475569"/>
                </a:solidFill>
                <a:latin typeface="Times New Roman" panose="02020603050405020304" pitchFamily="18" charset="0"/>
                <a:ea typeface="Calibri" pitchFamily="34" charset="-122"/>
                <a:cs typeface="Times New Roman" panose="02020603050405020304" pitchFamily="18" charset="0"/>
              </a:rPr>
              <a:t>Final Report</a:t>
            </a:r>
            <a:endParaRPr lang="en-US" sz="1400" dirty="0">
              <a:latin typeface="Times New Roman" panose="02020603050405020304" pitchFamily="18" charset="0"/>
              <a:cs typeface="Times New Roman" panose="02020603050405020304" pitchFamily="18" charset="0"/>
            </a:endParaRPr>
          </a:p>
        </p:txBody>
      </p:sp>
      <p:sp>
        <p:nvSpPr>
          <p:cNvPr id="63" name="Text 34">
            <a:extLst>
              <a:ext uri="{FF2B5EF4-FFF2-40B4-BE49-F238E27FC236}">
                <a16:creationId xmlns:a16="http://schemas.microsoft.com/office/drawing/2014/main" id="{387DBA6F-D451-37C8-6F3C-80C75BEA2A94}"/>
              </a:ext>
            </a:extLst>
          </p:cNvPr>
          <p:cNvSpPr/>
          <p:nvPr/>
        </p:nvSpPr>
        <p:spPr>
          <a:xfrm>
            <a:off x="893752" y="6384823"/>
            <a:ext cx="8595360" cy="201168"/>
          </a:xfrm>
          <a:prstGeom prst="rect">
            <a:avLst/>
          </a:prstGeom>
          <a:noFill/>
          <a:ln/>
        </p:spPr>
        <p:txBody>
          <a:bodyPr wrap="square" lIns="0" tIns="0" rIns="0" bIns="0" rtlCol="0" anchor="ctr"/>
          <a:lstStyle/>
          <a:p>
            <a:pPr marL="0" indent="0" algn="ctr">
              <a:buNone/>
            </a:pPr>
            <a:r>
              <a:rPr lang="en-US" sz="1400" dirty="0">
                <a:solidFill>
                  <a:schemeClr val="accent2">
                    <a:lumMod val="50000"/>
                  </a:schemeClr>
                </a:solidFill>
                <a:latin typeface="Times New Roman" panose="02020603050405020304" pitchFamily="18" charset="0"/>
                <a:cs typeface="Times New Roman" panose="02020603050405020304" pitchFamily="18" charset="0"/>
              </a:rPr>
              <a:t>Questions welcome - all code, architecture and tests available in GitLab.</a:t>
            </a:r>
          </a:p>
        </p:txBody>
      </p:sp>
      <p:sp>
        <p:nvSpPr>
          <p:cNvPr id="64" name="Text 8">
            <a:extLst>
              <a:ext uri="{FF2B5EF4-FFF2-40B4-BE49-F238E27FC236}">
                <a16:creationId xmlns:a16="http://schemas.microsoft.com/office/drawing/2014/main" id="{B0FF0C45-EE69-978B-064D-5105535C95C9}"/>
              </a:ext>
            </a:extLst>
          </p:cNvPr>
          <p:cNvSpPr/>
          <p:nvPr/>
        </p:nvSpPr>
        <p:spPr>
          <a:xfrm>
            <a:off x="893752" y="2977699"/>
            <a:ext cx="4297680" cy="384048"/>
          </a:xfrm>
          <a:prstGeom prst="rect">
            <a:avLst/>
          </a:prstGeom>
          <a:noFill/>
          <a:ln/>
        </p:spPr>
        <p:txBody>
          <a:bodyPr wrap="square" lIns="0" tIns="0" rIns="0" bIns="0" rtlCol="0" anchor="ctr"/>
          <a:lstStyle/>
          <a:p>
            <a:pPr marL="0" indent="0" algn="l">
              <a:buNone/>
            </a:pPr>
            <a:r>
              <a:rPr lang="en-US" sz="1600" b="1" dirty="0">
                <a:solidFill>
                  <a:srgbClr val="475569"/>
                </a:solidFill>
                <a:latin typeface="Times New Roman" panose="02020603050405020304" pitchFamily="18" charset="0"/>
                <a:ea typeface="Calibri" pitchFamily="34" charset="-122"/>
                <a:cs typeface="Times New Roman" panose="02020603050405020304" pitchFamily="18" charset="0"/>
              </a:rPr>
              <a:t>Android APK: </a:t>
            </a:r>
            <a:r>
              <a:rPr lang="en-US" sz="1600" b="1" dirty="0">
                <a:solidFill>
                  <a:srgbClr val="475569"/>
                </a:solidFill>
                <a:latin typeface="Times New Roman" panose="02020603050405020304" pitchFamily="18" charset="0"/>
                <a:ea typeface="Calibri" pitchFamily="34" charset="-122"/>
                <a:cs typeface="Times New Roman" panose="02020603050405020304" pitchFamily="18" charset="0"/>
                <a:hlinkClick r:id="rId5"/>
              </a:rPr>
              <a:t>cognicare-v1.apk</a:t>
            </a:r>
            <a:endParaRPr lang="en-US" sz="1600" dirty="0">
              <a:latin typeface="Times New Roman" panose="02020603050405020304" pitchFamily="18" charset="0"/>
              <a:cs typeface="Times New Roman" panose="02020603050405020304" pitchFamily="18" charset="0"/>
            </a:endParaRPr>
          </a:p>
        </p:txBody>
      </p:sp>
      <p:pic>
        <p:nvPicPr>
          <p:cNvPr id="65" name="Picture 64">
            <a:extLst>
              <a:ext uri="{FF2B5EF4-FFF2-40B4-BE49-F238E27FC236}">
                <a16:creationId xmlns:a16="http://schemas.microsoft.com/office/drawing/2014/main" id="{18AED01D-61C4-E387-2A63-7E7096E7152A}"/>
              </a:ext>
            </a:extLst>
          </p:cNvPr>
          <p:cNvPicPr>
            <a:picLocks noChangeAspect="1"/>
          </p:cNvPicPr>
          <p:nvPr/>
        </p:nvPicPr>
        <p:blipFill>
          <a:blip r:embed="rId6"/>
          <a:stretch>
            <a:fillRect/>
          </a:stretch>
        </p:blipFill>
        <p:spPr>
          <a:xfrm>
            <a:off x="10606903" y="0"/>
            <a:ext cx="1585097" cy="579170"/>
          </a:xfrm>
          <a:prstGeom prst="rect">
            <a:avLst/>
          </a:prstGeom>
        </p:spPr>
      </p:pic>
    </p:spTree>
    <p:extLst>
      <p:ext uri="{BB962C8B-B14F-4D97-AF65-F5344CB8AC3E}">
        <p14:creationId xmlns:p14="http://schemas.microsoft.com/office/powerpoint/2010/main" val="16813197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1374</TotalTime>
  <Words>1267</Words>
  <Application>Microsoft Office PowerPoint</Application>
  <PresentationFormat>Widescreen</PresentationFormat>
  <Paragraphs>227</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Consolas</vt:lpstr>
      <vt:lpstr>Georgia</vt:lpstr>
      <vt:lpstr>Times New Roman</vt:lpstr>
      <vt:lpstr>Trebuchet MS</vt:lpstr>
      <vt:lpstr>Wingdings 3</vt:lpstr>
      <vt:lpstr>Facet</vt:lpstr>
      <vt:lpstr>PowerPoint Presentation</vt:lpstr>
      <vt:lpstr>The Problem</vt:lpstr>
      <vt:lpstr>System Architecture</vt:lpstr>
      <vt:lpstr>Key Technical Decisions</vt:lpstr>
      <vt:lpstr>Core Pipeline: Mind Dump</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Hippargi, Vrushali</dc:creator>
  <cp:lastModifiedBy>Hippargi, Vrushali</cp:lastModifiedBy>
  <cp:revision>1</cp:revision>
  <dcterms:created xsi:type="dcterms:W3CDTF">2026-05-20T11:15:24Z</dcterms:created>
  <dcterms:modified xsi:type="dcterms:W3CDTF">2026-05-21T10:10:09Z</dcterms:modified>
</cp:coreProperties>
</file>